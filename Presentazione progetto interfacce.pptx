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254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254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81" d="100"/>
          <a:sy n="81" d="100"/>
        </p:scale>
        <p:origin x="17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e e dat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8657488"/>
            <a:ext cx="11607801" cy="461060"/>
          </a:xfrm>
          <a:prstGeom prst="rect">
            <a:avLst/>
          </a:prstGeom>
        </p:spPr>
        <p:txBody>
          <a:bodyPr anchor="b"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SzTx/>
              <a:buNone/>
              <a:defRPr sz="2304" b="1"/>
            </a:lvl1pPr>
          </a:lstStyle>
          <a:p>
            <a:r>
              <a:t>Autore e data</a:t>
            </a:r>
          </a:p>
        </p:txBody>
      </p:sp>
      <p:sp>
        <p:nvSpPr>
          <p:cNvPr id="12" name="Titolo presentazione"/>
          <p:cNvSpPr txBox="1">
            <a:spLocks noGrp="1"/>
          </p:cNvSpPr>
          <p:nvPr>
            <p:ph type="title" hasCustomPrompt="1"/>
          </p:nvPr>
        </p:nvSpPr>
        <p:spPr>
          <a:xfrm>
            <a:off x="698500" y="1854200"/>
            <a:ext cx="11609057" cy="3302000"/>
          </a:xfrm>
          <a:prstGeom prst="rect">
            <a:avLst/>
          </a:prstGeom>
        </p:spPr>
        <p:txBody>
          <a:bodyPr anchor="b"/>
          <a:lstStyle>
            <a:lvl1pPr>
              <a:defRPr sz="8200" spc="-164"/>
            </a:lvl1pPr>
          </a:lstStyle>
          <a:p>
            <a:r>
              <a:t>Titolo presentazione</a:t>
            </a:r>
          </a:p>
        </p:txBody>
      </p:sp>
      <p:sp>
        <p:nvSpPr>
          <p:cNvPr id="13" name="Corpo livello uno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5105400"/>
            <a:ext cx="11607800" cy="145639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5pPr>
          </a:lstStyle>
          <a:p>
            <a:r>
              <a:t>Sottotitolo presentazione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Numero diapositiva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olo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 e lime"/>
          <p:cNvSpPr>
            <a:spLocks noGrp="1"/>
          </p:cNvSpPr>
          <p:nvPr>
            <p:ph type="pic" idx="21"/>
          </p:nvPr>
        </p:nvSpPr>
        <p:spPr>
          <a:xfrm>
            <a:off x="-376767" y="-915894"/>
            <a:ext cx="17835652" cy="1068219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Titolo presentazione"/>
          <p:cNvSpPr txBox="1">
            <a:spLocks noGrp="1"/>
          </p:cNvSpPr>
          <p:nvPr>
            <p:ph type="title" hasCustomPrompt="1"/>
          </p:nvPr>
        </p:nvSpPr>
        <p:spPr>
          <a:xfrm>
            <a:off x="698500" y="5181600"/>
            <a:ext cx="11607800" cy="3302000"/>
          </a:xfrm>
          <a:prstGeom prst="rect">
            <a:avLst/>
          </a:prstGeom>
        </p:spPr>
        <p:txBody>
          <a:bodyPr anchor="b"/>
          <a:lstStyle>
            <a:lvl1pPr>
              <a:defRPr sz="8200" spc="-164"/>
            </a:lvl1pPr>
          </a:lstStyle>
          <a:p>
            <a:r>
              <a:t>Titolo presentazione</a:t>
            </a:r>
          </a:p>
        </p:txBody>
      </p:sp>
      <p:sp>
        <p:nvSpPr>
          <p:cNvPr id="23" name="Corpo livello uno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8432800"/>
            <a:ext cx="11607800" cy="68976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5pPr>
          </a:lstStyle>
          <a:p>
            <a:r>
              <a:t>Sottotitolo presentazione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Autore e data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571500"/>
            <a:ext cx="11607801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SzTx/>
              <a:buNone/>
              <a:defRPr sz="2304" b="1"/>
            </a:lvl1pPr>
          </a:lstStyle>
          <a:p>
            <a:r>
              <a:t>Autore e data</a:t>
            </a:r>
          </a:p>
        </p:txBody>
      </p:sp>
      <p:sp>
        <p:nvSpPr>
          <p:cNvPr id="25" name="Numero diapositiva"/>
          <p:cNvSpPr txBox="1">
            <a:spLocks noGrp="1"/>
          </p:cNvSpPr>
          <p:nvPr>
            <p:ph type="sldNum" sz="quarter" idx="2"/>
          </p:nvPr>
        </p:nvSpPr>
        <p:spPr>
          <a:xfrm>
            <a:off x="6349999" y="9220199"/>
            <a:ext cx="297893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olo e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iotola con frittelle al salmone, insalata e hummus "/>
          <p:cNvSpPr>
            <a:spLocks noGrp="1"/>
          </p:cNvSpPr>
          <p:nvPr>
            <p:ph type="pic" idx="21"/>
          </p:nvPr>
        </p:nvSpPr>
        <p:spPr>
          <a:xfrm>
            <a:off x="5319129" y="495299"/>
            <a:ext cx="7543801" cy="87800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Corpo livello uno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5003800"/>
            <a:ext cx="5105400" cy="4044566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5pPr>
          </a:lstStyle>
          <a:p>
            <a:r>
              <a:t>Sottotitolo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4" name="Titolo"/>
          <p:cNvSpPr txBox="1">
            <a:spLocks noGrp="1"/>
          </p:cNvSpPr>
          <p:nvPr>
            <p:ph type="title" hasCustomPrompt="1"/>
          </p:nvPr>
        </p:nvSpPr>
        <p:spPr>
          <a:xfrm>
            <a:off x="698500" y="692534"/>
            <a:ext cx="5105400" cy="4387466"/>
          </a:xfrm>
          <a:prstGeom prst="rect">
            <a:avLst/>
          </a:prstGeom>
        </p:spPr>
        <p:txBody>
          <a:bodyPr anchor="b"/>
          <a:lstStyle/>
          <a:p>
            <a:r>
              <a:t>Titolo</a:t>
            </a:r>
          </a:p>
        </p:txBody>
      </p:sp>
      <p:sp>
        <p:nvSpPr>
          <p:cNvPr id="35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olo ed ele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rpo livello uno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Testo elenco puntato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3" name="Sottotitolo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11607801" cy="671803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Sottotitolo diapositiva</a:t>
            </a:r>
          </a:p>
        </p:txBody>
      </p:sp>
      <p:sp>
        <p:nvSpPr>
          <p:cNvPr id="44" name="Tito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Titolo</a:t>
            </a:r>
          </a:p>
        </p:txBody>
      </p:sp>
      <p:sp>
        <p:nvSpPr>
          <p:cNvPr id="45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le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orpo livello uno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589358"/>
          <a:lstStyle/>
          <a:p>
            <a:r>
              <a:t>Testo elenco puntato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olo, elenco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appardelle con burro al prezzemolo, nocciole tostate e scaglie di parmigiano"/>
          <p:cNvSpPr>
            <a:spLocks noGrp="1"/>
          </p:cNvSpPr>
          <p:nvPr>
            <p:ph type="pic" idx="21"/>
          </p:nvPr>
        </p:nvSpPr>
        <p:spPr>
          <a:xfrm>
            <a:off x="6172200" y="596900"/>
            <a:ext cx="6448425" cy="8597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1" name="Titolo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Titolo</a:t>
            </a:r>
          </a:p>
        </p:txBody>
      </p:sp>
      <p:sp>
        <p:nvSpPr>
          <p:cNvPr id="62" name="Sottotitolo diapositiva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81151">
              <a:lnSpc>
                <a:spcPct val="100000"/>
              </a:lnSpc>
              <a:spcBef>
                <a:spcPts val="0"/>
              </a:spcBef>
              <a:buSzTx/>
              <a:buNone/>
              <a:defRPr sz="3762" b="1"/>
            </a:lvl1pPr>
          </a:lstStyle>
          <a:p>
            <a:r>
              <a:t>Sottotitolo diapositiva</a:t>
            </a:r>
          </a:p>
        </p:txBody>
      </p:sp>
      <p:sp>
        <p:nvSpPr>
          <p:cNvPr id="63" name="Corpo livello uno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/>
          <a:p>
            <a:r>
              <a:t>Testo elenco puntato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olo, elenco e diretta picco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olo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Titolo</a:t>
            </a:r>
          </a:p>
        </p:txBody>
      </p:sp>
      <p:sp>
        <p:nvSpPr>
          <p:cNvPr id="72" name="Sottotitolo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81151">
              <a:lnSpc>
                <a:spcPct val="100000"/>
              </a:lnSpc>
              <a:spcBef>
                <a:spcPts val="0"/>
              </a:spcBef>
              <a:buSzTx/>
              <a:buNone/>
              <a:defRPr sz="3762" b="1"/>
            </a:lvl1pPr>
          </a:lstStyle>
          <a:p>
            <a:r>
              <a:t>Sottotitolo diapositiva</a:t>
            </a:r>
          </a:p>
        </p:txBody>
      </p:sp>
      <p:sp>
        <p:nvSpPr>
          <p:cNvPr id="73" name="Corpo livello uno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/>
          <a:p>
            <a:r>
              <a:t>Testo elenco puntato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4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olo, elenco e diretta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itolo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Titolo</a:t>
            </a:r>
          </a:p>
        </p:txBody>
      </p:sp>
      <p:sp>
        <p:nvSpPr>
          <p:cNvPr id="82" name="Sottotitolo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81151">
              <a:lnSpc>
                <a:spcPct val="100000"/>
              </a:lnSpc>
              <a:spcBef>
                <a:spcPts val="0"/>
              </a:spcBef>
              <a:buSzTx/>
              <a:buNone/>
              <a:defRPr sz="3762" b="1"/>
            </a:lvl1pPr>
          </a:lstStyle>
          <a:p>
            <a:r>
              <a:t>Sottotitolo diapositiva</a:t>
            </a:r>
          </a:p>
        </p:txBody>
      </p:sp>
      <p:sp>
        <p:nvSpPr>
          <p:cNvPr id="83" name="Corpo livello uno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/>
          <a:p>
            <a:r>
              <a:t>Testo elenco puntato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4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olo sezione"/>
          <p:cNvSpPr txBox="1">
            <a:spLocks noGrp="1"/>
          </p:cNvSpPr>
          <p:nvPr>
            <p:ph type="title" hasCustomPrompt="1"/>
          </p:nvPr>
        </p:nvSpPr>
        <p:spPr>
          <a:xfrm>
            <a:off x="698500" y="3225800"/>
            <a:ext cx="11607800" cy="3302000"/>
          </a:xfrm>
          <a:prstGeom prst="rect">
            <a:avLst/>
          </a:prstGeom>
        </p:spPr>
        <p:txBody>
          <a:bodyPr anchor="ctr"/>
          <a:lstStyle>
            <a:lvl1pPr>
              <a:defRPr sz="8200" b="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Titolo sezione</a:t>
            </a:r>
          </a:p>
        </p:txBody>
      </p:sp>
      <p:sp>
        <p:nvSpPr>
          <p:cNvPr id="92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ito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Titolo</a:t>
            </a:r>
          </a:p>
        </p:txBody>
      </p:sp>
      <p:sp>
        <p:nvSpPr>
          <p:cNvPr id="100" name="Sottotitolo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11607801" cy="671803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Sottotitolo diapositiva</a:t>
            </a:r>
          </a:p>
        </p:txBody>
      </p:sp>
      <p:sp>
        <p:nvSpPr>
          <p:cNvPr id="101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rogram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itolo programma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11607800" cy="1016000"/>
          </a:xfrm>
          <a:prstGeom prst="rect">
            <a:avLst/>
          </a:prstGeom>
        </p:spPr>
        <p:txBody>
          <a:bodyPr/>
          <a:lstStyle/>
          <a:p>
            <a:r>
              <a:t>Titolo programma</a:t>
            </a:r>
          </a:p>
        </p:txBody>
      </p:sp>
      <p:sp>
        <p:nvSpPr>
          <p:cNvPr id="109" name="Sottotitolo programm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09700"/>
            <a:ext cx="11607801" cy="671802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Sottotitolo programma</a:t>
            </a:r>
          </a:p>
        </p:txBody>
      </p:sp>
      <p:sp>
        <p:nvSpPr>
          <p:cNvPr id="110" name="Corpo livello uno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1300"/>
              </a:spcBef>
              <a:buSzTx/>
              <a:buNone/>
              <a:defRPr sz="3800" spc="-38"/>
            </a:lvl1pPr>
            <a:lvl2pPr marL="0" indent="457200">
              <a:spcBef>
                <a:spcPts val="1300"/>
              </a:spcBef>
              <a:buSzTx/>
              <a:buNone/>
              <a:defRPr sz="3800" spc="-38"/>
            </a:lvl2pPr>
            <a:lvl3pPr marL="0" indent="914400">
              <a:spcBef>
                <a:spcPts val="1300"/>
              </a:spcBef>
              <a:buSzTx/>
              <a:buNone/>
              <a:defRPr sz="3800" spc="-38"/>
            </a:lvl3pPr>
            <a:lvl4pPr marL="0" indent="1371600">
              <a:spcBef>
                <a:spcPts val="1300"/>
              </a:spcBef>
              <a:buSzTx/>
              <a:buNone/>
              <a:defRPr sz="3800" spc="-38"/>
            </a:lvl4pPr>
            <a:lvl5pPr marL="0" indent="1828800">
              <a:spcBef>
                <a:spcPts val="1300"/>
              </a:spcBef>
              <a:buSzTx/>
              <a:buNone/>
              <a:defRPr sz="3800" spc="-38"/>
            </a:lvl5pPr>
          </a:lstStyle>
          <a:p>
            <a:r>
              <a:t>Argomenti del programma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chiar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orpo livello uno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568700"/>
            <a:ext cx="11607800" cy="26177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Dichiarazione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formazione import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Dettagli informazion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6209979"/>
            <a:ext cx="11607800" cy="67180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Dettagli informazione</a:t>
            </a:r>
          </a:p>
        </p:txBody>
      </p:sp>
      <p:sp>
        <p:nvSpPr>
          <p:cNvPr id="127" name="Corpo livello uno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999066"/>
            <a:ext cx="11607800" cy="521091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8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orpo livello uno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736600" y="3721100"/>
            <a:ext cx="11531600" cy="2324100"/>
          </a:xfrm>
          <a:prstGeom prst="rect">
            <a:avLst/>
          </a:prstGeom>
        </p:spPr>
        <p:txBody>
          <a:bodyPr anchor="ctr"/>
          <a:lstStyle>
            <a:lvl1pPr marL="457200" indent="-3429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457200" indent="1143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457200" indent="5715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457200" indent="10287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457200" indent="14859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“Citazione degna di nota”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6" name="Attribuzion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6426200"/>
            <a:ext cx="11049000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SzTx/>
              <a:buNone/>
              <a:defRPr sz="2304" b="1"/>
            </a:lvl1pPr>
          </a:lstStyle>
          <a:p>
            <a:r>
              <a:t>Attribuzione</a:t>
            </a:r>
          </a:p>
        </p:txBody>
      </p:sp>
      <p:sp>
        <p:nvSpPr>
          <p:cNvPr id="137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 - 3 per pag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appardelle con burro al prezzemolo, nocciole tostate e scaglie di parmigiano"/>
          <p:cNvSpPr>
            <a:spLocks noGrp="1"/>
          </p:cNvSpPr>
          <p:nvPr>
            <p:ph type="pic" idx="21"/>
          </p:nvPr>
        </p:nvSpPr>
        <p:spPr>
          <a:xfrm>
            <a:off x="-2082800" y="687558"/>
            <a:ext cx="11165190" cy="837389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Ciotola di insalata con riso saltato, uova sode e bacchette"/>
          <p:cNvSpPr>
            <a:spLocks noGrp="1"/>
          </p:cNvSpPr>
          <p:nvPr>
            <p:ph type="pic" sz="half" idx="22"/>
          </p:nvPr>
        </p:nvSpPr>
        <p:spPr>
          <a:xfrm>
            <a:off x="6597650" y="292100"/>
            <a:ext cx="5740400" cy="45923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Ciotola con frittelle al salmone, insalata e hummus"/>
          <p:cNvSpPr>
            <a:spLocks noGrp="1"/>
          </p:cNvSpPr>
          <p:nvPr>
            <p:ph type="pic" idx="23"/>
          </p:nvPr>
        </p:nvSpPr>
        <p:spPr>
          <a:xfrm>
            <a:off x="4984750" y="2749413"/>
            <a:ext cx="7937500" cy="923827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Ciotola di insalata con riso saltato, uova sode e bacchette"/>
          <p:cNvSpPr>
            <a:spLocks noGrp="1"/>
          </p:cNvSpPr>
          <p:nvPr>
            <p:ph type="pic" idx="21"/>
          </p:nvPr>
        </p:nvSpPr>
        <p:spPr>
          <a:xfrm>
            <a:off x="-1016000" y="-1054100"/>
            <a:ext cx="14427200" cy="1154176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Numero diapositiva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rpo livello uno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Testo elenco puntato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Titolo"/>
          <p:cNvSpPr txBox="1">
            <a:spLocks noGrp="1"/>
          </p:cNvSpPr>
          <p:nvPr>
            <p:ph type="title" hasCustomPrompt="1"/>
          </p:nvPr>
        </p:nvSpPr>
        <p:spPr>
          <a:xfrm>
            <a:off x="698500" y="440266"/>
            <a:ext cx="11607800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Titolo</a:t>
            </a:r>
          </a:p>
        </p:txBody>
      </p:sp>
      <p:sp>
        <p:nvSpPr>
          <p:cNvPr id="4" name="Numero diapositiva"/>
          <p:cNvSpPr txBox="1">
            <a:spLocks noGrp="1"/>
          </p:cNvSpPr>
          <p:nvPr>
            <p:ph type="sldNum" sz="quarter" idx="2"/>
          </p:nvPr>
        </p:nvSpPr>
        <p:spPr>
          <a:xfrm>
            <a:off x="6350067" y="9220199"/>
            <a:ext cx="297892" cy="28747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300"/>
            </a:lvl1pPr>
          </a:lstStyle>
          <a:p>
            <a:fld id="{86CB4B4D-7CA3-9044-876B-883B54F8677D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381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762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143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1524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1905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2286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2667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3048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3429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t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7-026-06662-0" TargetMode="External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data.mendeley.com/datasets/2pw2m39yct/2" TargetMode="External"/><Relationship Id="rId4" Type="http://schemas.openxmlformats.org/officeDocument/2006/relationships/hyperlink" Target="https://doi.org/10.5334/jopd.a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riele Babini, Federico Bottaro, Nicholas Maria Como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Ariele Babini, Federico Bottaro, Nicholas Maria Como</a:t>
            </a:r>
          </a:p>
        </p:txBody>
      </p:sp>
      <p:sp>
        <p:nvSpPr>
          <p:cNvPr id="172" name="EEG &amp; Iowa Gambling Task: pipeline EEG-ML per la classificazione delle decisioni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 defTabSz="1404483">
              <a:defRPr sz="6642" spc="-132"/>
            </a:pPr>
            <a:r>
              <a:t>EEG &amp; Iowa Gambling Task: pipeline EEG-ML per la classificazione delle decisioni</a:t>
            </a:r>
            <a:r>
              <a:rPr sz="972" spc="-19"/>
              <a:t> </a:t>
            </a:r>
          </a:p>
        </p:txBody>
      </p:sp>
      <p:sp>
        <p:nvSpPr>
          <p:cNvPr id="173" name="Università degli Studi dell’Insubria…"/>
          <p:cNvSpPr txBox="1">
            <a:spLocks noGrp="1"/>
          </p:cNvSpPr>
          <p:nvPr>
            <p:ph type="subTitle" sz="quarter" idx="1"/>
          </p:nvPr>
        </p:nvSpPr>
        <p:spPr>
          <a:xfrm>
            <a:off x="698500" y="5232400"/>
            <a:ext cx="11607800" cy="1456399"/>
          </a:xfrm>
          <a:prstGeom prst="rect">
            <a:avLst/>
          </a:prstGeom>
        </p:spPr>
        <p:txBody>
          <a:bodyPr/>
          <a:lstStyle/>
          <a:p>
            <a:pPr defTabSz="1733930">
              <a:defRPr sz="3400"/>
            </a:pPr>
            <a:r>
              <a:t>Università degli Studi dell’Insubria</a:t>
            </a:r>
          </a:p>
          <a:p>
            <a:pPr defTabSz="1733930">
              <a:defRPr sz="3400"/>
            </a:pPr>
            <a:r>
              <a:t>Laurea Triennale Informatica, a.a. 2025/2026</a:t>
            </a:r>
          </a:p>
        </p:txBody>
      </p:sp>
      <p:pic>
        <p:nvPicPr>
          <p:cNvPr id="174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viluppare un'infrastruttura di Machine Learning in grado di analizzare, trial-by-trial, l'attività cerebrale precedente a una scelta economica nell'Iowa Gambling Task…"/>
          <p:cNvSpPr txBox="1">
            <a:spLocks noGrp="1"/>
          </p:cNvSpPr>
          <p:nvPr>
            <p:ph type="body" idx="1"/>
          </p:nvPr>
        </p:nvSpPr>
        <p:spPr>
          <a:xfrm>
            <a:off x="698500" y="1652521"/>
            <a:ext cx="11607800" cy="7665867"/>
          </a:xfrm>
          <a:prstGeom prst="rect">
            <a:avLst/>
          </a:prstGeom>
        </p:spPr>
        <p:txBody>
          <a:bodyPr/>
          <a:lstStyle/>
          <a:p>
            <a:r>
              <a:t>Sviluppare un'infrastruttura di Machine Learning in grado di analizzare, trial-by-trial, l'attività cerebrale precedente a una scelta economica nell'Iowa Gambling Task</a:t>
            </a:r>
          </a:p>
          <a:p>
            <a:r>
              <a:t>Passare dalla statistica descrittiva della letteratura scientifica a un modello predittivo </a:t>
            </a:r>
            <a:r>
              <a:rPr i="1"/>
              <a:t>subject-independent</a:t>
            </a:r>
            <a:r>
              <a:t>.</a:t>
            </a:r>
          </a:p>
        </p:txBody>
      </p:sp>
      <p:sp>
        <p:nvSpPr>
          <p:cNvPr id="177" name="Obiettiv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Obiettivo</a:t>
            </a:r>
          </a:p>
        </p:txBody>
      </p:sp>
      <p:pic>
        <p:nvPicPr>
          <p:cNvPr id="178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Dataset pubblico di Chávez-Sánchez et al. (2026) pubblicato su Scientific Data.…"/>
          <p:cNvSpPr txBox="1">
            <a:spLocks noGrp="1"/>
          </p:cNvSpPr>
          <p:nvPr>
            <p:ph type="body" sz="half" idx="1"/>
          </p:nvPr>
        </p:nvSpPr>
        <p:spPr>
          <a:xfrm>
            <a:off x="618302" y="5067037"/>
            <a:ext cx="11975871" cy="3895921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2000"/>
              </a:spcBef>
            </a:pPr>
            <a:r>
              <a:t>Dataset pubblico di Chávez-Sánchez et al. (2026) pubblicato su </a:t>
            </a:r>
            <a:r>
              <a:rPr i="1"/>
              <a:t>Scientific Data</a:t>
            </a:r>
            <a:r>
              <a:t>. </a:t>
            </a:r>
          </a:p>
          <a:p>
            <a:pPr lvl="1">
              <a:spcBef>
                <a:spcPts val="2000"/>
              </a:spcBef>
            </a:pPr>
            <a:r>
              <a:t>59 partecipanti sani</a:t>
            </a:r>
          </a:p>
          <a:p>
            <a:pPr lvl="1">
              <a:spcBef>
                <a:spcPts val="2000"/>
              </a:spcBef>
            </a:pPr>
            <a:r>
              <a:t>21 canali EEG (sistema 10-20)</a:t>
            </a:r>
          </a:p>
          <a:p>
            <a:pPr lvl="1">
              <a:spcBef>
                <a:spcPts val="2000"/>
              </a:spcBef>
            </a:pPr>
            <a:r>
              <a:t>200 decisioni per soggetto</a:t>
            </a:r>
          </a:p>
          <a:p>
            <a:pPr lvl="1">
              <a:spcBef>
                <a:spcPts val="2000"/>
              </a:spcBef>
            </a:pPr>
            <a:r>
              <a:t>dati comportamentali sincronizzati</a:t>
            </a:r>
          </a:p>
        </p:txBody>
      </p:sp>
      <p:sp>
        <p:nvSpPr>
          <p:cNvPr id="181" name="Iowa Gambling Task e Datase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Iowa Gambling Task e Dataset</a:t>
            </a:r>
          </a:p>
        </p:txBody>
      </p:sp>
      <p:pic>
        <p:nvPicPr>
          <p:cNvPr id="182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" name="filmato-incollato.png" descr="filmato-incollato.png"/>
          <p:cNvPicPr>
            <a:picLocks noChangeAspect="1"/>
          </p:cNvPicPr>
          <p:nvPr/>
        </p:nvPicPr>
        <p:blipFill>
          <a:blip r:embed="rId3"/>
          <a:srcRect t="1910"/>
          <a:stretch>
            <a:fillRect/>
          </a:stretch>
        </p:blipFill>
        <p:spPr>
          <a:xfrm>
            <a:off x="1034438" y="2544156"/>
            <a:ext cx="11143599" cy="1955693"/>
          </a:xfrm>
          <a:prstGeom prst="rect">
            <a:avLst/>
          </a:prstGeom>
          <a:ln w="12700">
            <a:miter lim="400000"/>
          </a:ln>
        </p:spPr>
      </p:pic>
      <p:sp>
        <p:nvSpPr>
          <p:cNvPr id="184" name="Iowa Gambling Task (IGT)"/>
          <p:cNvSpPr txBox="1"/>
          <p:nvPr/>
        </p:nvSpPr>
        <p:spPr>
          <a:xfrm>
            <a:off x="703516" y="1729378"/>
            <a:ext cx="4841368" cy="548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marL="381000" indent="-381000">
              <a:spcBef>
                <a:spcPts val="2000"/>
              </a:spcBef>
              <a:buSzPct val="123000"/>
              <a:buChar char="•"/>
            </a:lvl1pPr>
          </a:lstStyle>
          <a:p>
            <a:r>
              <a:t>Iowa Gambling Task (IGT)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ipeline metodologic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Pipeline metodologica</a:t>
            </a:r>
          </a:p>
        </p:txBody>
      </p:sp>
      <p:sp>
        <p:nvSpPr>
          <p:cNvPr id="187" name="Rettangolo arrotondato"/>
          <p:cNvSpPr/>
          <p:nvPr/>
        </p:nvSpPr>
        <p:spPr>
          <a:xfrm>
            <a:off x="1799284" y="1958271"/>
            <a:ext cx="8728632" cy="1238203"/>
          </a:xfrm>
          <a:prstGeom prst="roundRect">
            <a:avLst>
              <a:gd name="adj" fmla="val 41624"/>
            </a:avLst>
          </a:prstGeom>
          <a:ln w="381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88" name="Rettangolo arrotondato"/>
          <p:cNvSpPr/>
          <p:nvPr/>
        </p:nvSpPr>
        <p:spPr>
          <a:xfrm>
            <a:off x="2208837" y="3392516"/>
            <a:ext cx="8847165" cy="1231901"/>
          </a:xfrm>
          <a:prstGeom prst="roundRect">
            <a:avLst>
              <a:gd name="adj" fmla="val 42091"/>
            </a:avLst>
          </a:prstGeom>
          <a:ln w="381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89" name="Sincronizzazione ed Epoching"/>
          <p:cNvSpPr txBox="1"/>
          <p:nvPr/>
        </p:nvSpPr>
        <p:spPr>
          <a:xfrm>
            <a:off x="3536193" y="3715911"/>
            <a:ext cx="5963853" cy="58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7022">
              <a:lnSpc>
                <a:spcPct val="100000"/>
              </a:lnSpc>
              <a:spcBef>
                <a:spcPts val="0"/>
              </a:spcBef>
              <a:defRPr sz="3200" b="1"/>
            </a:lvl1pPr>
          </a:lstStyle>
          <a:p>
            <a:r>
              <a:t>Sincronizzazione ed Epoching</a:t>
            </a:r>
          </a:p>
        </p:txBody>
      </p:sp>
      <p:pic>
        <p:nvPicPr>
          <p:cNvPr id="190" name="filter.png" descr="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312" y="2188357"/>
            <a:ext cx="812801" cy="8128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" name="syncronize.png" descr="syncron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132" y="3614766"/>
            <a:ext cx="812801" cy="812801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Preprocessing del segnale grezzo"/>
          <p:cNvSpPr txBox="1"/>
          <p:nvPr/>
        </p:nvSpPr>
        <p:spPr>
          <a:xfrm>
            <a:off x="3019031" y="2289501"/>
            <a:ext cx="6712805" cy="58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7022">
              <a:lnSpc>
                <a:spcPct val="100000"/>
              </a:lnSpc>
              <a:spcBef>
                <a:spcPts val="0"/>
              </a:spcBef>
              <a:defRPr sz="3200" b="1"/>
            </a:lvl1pPr>
          </a:lstStyle>
          <a:p>
            <a:r>
              <a:t>Preprocessing del segnale grezzo</a:t>
            </a:r>
          </a:p>
        </p:txBody>
      </p:sp>
      <p:sp>
        <p:nvSpPr>
          <p:cNvPr id="193" name="Rettangolo arrotondato"/>
          <p:cNvSpPr/>
          <p:nvPr/>
        </p:nvSpPr>
        <p:spPr>
          <a:xfrm>
            <a:off x="2344303" y="4820460"/>
            <a:ext cx="8937413" cy="1231901"/>
          </a:xfrm>
          <a:prstGeom prst="roundRect">
            <a:avLst>
              <a:gd name="adj" fmla="val 42091"/>
            </a:avLst>
          </a:prstGeom>
          <a:ln w="381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94" name="Estrazione Feature PSD"/>
          <p:cNvSpPr txBox="1"/>
          <p:nvPr/>
        </p:nvSpPr>
        <p:spPr>
          <a:xfrm>
            <a:off x="3671660" y="5143855"/>
            <a:ext cx="5963852" cy="58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7022">
              <a:lnSpc>
                <a:spcPct val="100000"/>
              </a:lnSpc>
              <a:spcBef>
                <a:spcPts val="0"/>
              </a:spcBef>
              <a:defRPr sz="3200" b="1"/>
            </a:lvl1pPr>
          </a:lstStyle>
          <a:p>
            <a:r>
              <a:t>Estrazione Feature PSD</a:t>
            </a:r>
          </a:p>
        </p:txBody>
      </p:sp>
      <p:pic>
        <p:nvPicPr>
          <p:cNvPr id="195" name="data-filtering.png" descr="data-filte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6332" y="5041177"/>
            <a:ext cx="812801" cy="81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96" name="syncronize.png" descr="syncron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1082" y="3595716"/>
            <a:ext cx="850901" cy="850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7" name="data-filtering.png" descr="data-filte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982" y="5041177"/>
            <a:ext cx="825501" cy="825501"/>
          </a:xfrm>
          <a:prstGeom prst="rect">
            <a:avLst/>
          </a:prstGeom>
          <a:ln w="12700">
            <a:miter lim="400000"/>
          </a:ln>
        </p:spPr>
      </p:pic>
      <p:sp>
        <p:nvSpPr>
          <p:cNvPr id="198" name="Rettangolo arrotondato"/>
          <p:cNvSpPr/>
          <p:nvPr/>
        </p:nvSpPr>
        <p:spPr>
          <a:xfrm>
            <a:off x="2213070" y="6248404"/>
            <a:ext cx="8881033" cy="1231901"/>
          </a:xfrm>
          <a:prstGeom prst="roundRect">
            <a:avLst>
              <a:gd name="adj" fmla="val 42091"/>
            </a:avLst>
          </a:prstGeom>
          <a:ln w="381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99" name="Classificazione Multimodello"/>
          <p:cNvSpPr txBox="1"/>
          <p:nvPr/>
        </p:nvSpPr>
        <p:spPr>
          <a:xfrm>
            <a:off x="3540427" y="6571798"/>
            <a:ext cx="5963852" cy="5851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7022">
              <a:lnSpc>
                <a:spcPct val="100000"/>
              </a:lnSpc>
              <a:spcBef>
                <a:spcPts val="0"/>
              </a:spcBef>
              <a:defRPr sz="3200" b="1"/>
            </a:lvl1pPr>
          </a:lstStyle>
          <a:p>
            <a:r>
              <a:t>Classificazione Multimodello</a:t>
            </a:r>
          </a:p>
        </p:txBody>
      </p:sp>
      <p:sp>
        <p:nvSpPr>
          <p:cNvPr id="200" name="Rettangolo arrotondato"/>
          <p:cNvSpPr/>
          <p:nvPr/>
        </p:nvSpPr>
        <p:spPr>
          <a:xfrm>
            <a:off x="1816217" y="7676348"/>
            <a:ext cx="8785445" cy="1231901"/>
          </a:xfrm>
          <a:prstGeom prst="roundRect">
            <a:avLst>
              <a:gd name="adj" fmla="val 42091"/>
            </a:avLst>
          </a:prstGeom>
          <a:ln w="381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01" name="Validazione LOSO"/>
          <p:cNvSpPr txBox="1"/>
          <p:nvPr/>
        </p:nvSpPr>
        <p:spPr>
          <a:xfrm>
            <a:off x="3143574" y="7999742"/>
            <a:ext cx="5963852" cy="5851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7022">
              <a:lnSpc>
                <a:spcPct val="100000"/>
              </a:lnSpc>
              <a:spcBef>
                <a:spcPts val="0"/>
              </a:spcBef>
              <a:defRPr sz="3200" b="1"/>
            </a:lvl1pPr>
          </a:lstStyle>
          <a:p>
            <a:r>
              <a:t>Validazione LOSO</a:t>
            </a:r>
          </a:p>
        </p:txBody>
      </p:sp>
      <p:pic>
        <p:nvPicPr>
          <p:cNvPr id="202" name="classification.png" descr="classific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5465" y="6356354"/>
            <a:ext cx="990601" cy="990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3" name="shield.png" descr="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3212" y="7860498"/>
            <a:ext cx="863601" cy="863601"/>
          </a:xfrm>
          <a:prstGeom prst="rect">
            <a:avLst/>
          </a:prstGeom>
          <a:ln w="12700">
            <a:miter lim="400000"/>
          </a:ln>
        </p:spPr>
      </p:pic>
      <p:sp>
        <p:nvSpPr>
          <p:cNvPr id="214" name="Linea di collegamento"/>
          <p:cNvSpPr/>
          <p:nvPr/>
        </p:nvSpPr>
        <p:spPr>
          <a:xfrm>
            <a:off x="967961" y="2134643"/>
            <a:ext cx="819582" cy="66037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01" h="21600" extrusionOk="0">
                <a:moveTo>
                  <a:pt x="592" y="21600"/>
                </a:moveTo>
                <a:cubicBezTo>
                  <a:pt x="21600" y="14550"/>
                  <a:pt x="21403" y="7350"/>
                  <a:pt x="0" y="0"/>
                </a:cubicBezTo>
              </a:path>
            </a:pathLst>
          </a:custGeom>
          <a:ln w="177800">
            <a:solidFill>
              <a:schemeClr val="accent1"/>
            </a:solidFill>
            <a:miter lim="400000"/>
          </a:ln>
        </p:spPr>
        <p:txBody>
          <a:bodyPr/>
          <a:lstStyle/>
          <a:p>
            <a:endParaRPr/>
          </a:p>
        </p:txBody>
      </p:sp>
      <p:sp>
        <p:nvSpPr>
          <p:cNvPr id="205" name="Cerchio"/>
          <p:cNvSpPr/>
          <p:nvPr/>
        </p:nvSpPr>
        <p:spPr>
          <a:xfrm>
            <a:off x="925749" y="2143417"/>
            <a:ext cx="180545" cy="183705"/>
          </a:xfrm>
          <a:prstGeom prst="ellipse">
            <a:avLst/>
          </a:pr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06" name="Cerchio"/>
          <p:cNvSpPr/>
          <p:nvPr/>
        </p:nvSpPr>
        <p:spPr>
          <a:xfrm>
            <a:off x="913049" y="8635234"/>
            <a:ext cx="180545" cy="183705"/>
          </a:xfrm>
          <a:prstGeom prst="ellipse">
            <a:avLst/>
          </a:pr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07" name="4"/>
          <p:cNvSpPr/>
          <p:nvPr/>
        </p:nvSpPr>
        <p:spPr>
          <a:xfrm>
            <a:off x="1287516" y="6470654"/>
            <a:ext cx="736601" cy="762001"/>
          </a:xfrm>
          <a:prstGeom prst="ellipse">
            <a:avLst/>
          </a:prstGeom>
          <a:solidFill>
            <a:srgbClr val="FFFFFF"/>
          </a:solidFill>
          <a:ln w="762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7022">
              <a:lnSpc>
                <a:spcPct val="100000"/>
              </a:lnSpc>
              <a:spcBef>
                <a:spcPts val="0"/>
              </a:spcBef>
              <a:defRPr sz="3100" b="1"/>
            </a:lvl1pPr>
          </a:lstStyle>
          <a:p>
            <a:r>
              <a:t>4</a:t>
            </a:r>
          </a:p>
        </p:txBody>
      </p:sp>
      <p:sp>
        <p:nvSpPr>
          <p:cNvPr id="208" name="3"/>
          <p:cNvSpPr/>
          <p:nvPr/>
        </p:nvSpPr>
        <p:spPr>
          <a:xfrm>
            <a:off x="1414516" y="5066577"/>
            <a:ext cx="736601" cy="762001"/>
          </a:xfrm>
          <a:prstGeom prst="ellipse">
            <a:avLst/>
          </a:prstGeom>
          <a:solidFill>
            <a:srgbClr val="FFFFFF"/>
          </a:solidFill>
          <a:ln w="762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7022">
              <a:lnSpc>
                <a:spcPct val="100000"/>
              </a:lnSpc>
              <a:spcBef>
                <a:spcPts val="0"/>
              </a:spcBef>
              <a:defRPr sz="3100" b="1"/>
            </a:lvl1pPr>
          </a:lstStyle>
          <a:p>
            <a:r>
              <a:t>3</a:t>
            </a:r>
          </a:p>
        </p:txBody>
      </p:sp>
      <p:sp>
        <p:nvSpPr>
          <p:cNvPr id="209" name="2"/>
          <p:cNvSpPr/>
          <p:nvPr/>
        </p:nvSpPr>
        <p:spPr>
          <a:xfrm>
            <a:off x="1287516" y="3627466"/>
            <a:ext cx="736601" cy="762001"/>
          </a:xfrm>
          <a:prstGeom prst="ellipse">
            <a:avLst/>
          </a:prstGeom>
          <a:solidFill>
            <a:srgbClr val="FFFFFF"/>
          </a:solidFill>
          <a:ln w="762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7022">
              <a:lnSpc>
                <a:spcPct val="100000"/>
              </a:lnSpc>
              <a:spcBef>
                <a:spcPts val="0"/>
              </a:spcBef>
              <a:defRPr sz="3100" b="1"/>
            </a:lvl1pPr>
          </a:lstStyle>
          <a:p>
            <a:r>
              <a:t>2</a:t>
            </a:r>
          </a:p>
        </p:txBody>
      </p:sp>
      <p:sp>
        <p:nvSpPr>
          <p:cNvPr id="210" name="1"/>
          <p:cNvSpPr/>
          <p:nvPr/>
        </p:nvSpPr>
        <p:spPr>
          <a:xfrm>
            <a:off x="843016" y="2226457"/>
            <a:ext cx="736601" cy="762001"/>
          </a:xfrm>
          <a:prstGeom prst="ellipse">
            <a:avLst/>
          </a:prstGeom>
          <a:solidFill>
            <a:srgbClr val="FFFFFF"/>
          </a:solidFill>
          <a:ln w="762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7022">
              <a:lnSpc>
                <a:spcPct val="100000"/>
              </a:lnSpc>
              <a:spcBef>
                <a:spcPts val="0"/>
              </a:spcBef>
              <a:defRPr sz="3100" b="1"/>
            </a:lvl1pPr>
          </a:lstStyle>
          <a:p>
            <a:r>
              <a:t>1</a:t>
            </a:r>
          </a:p>
        </p:txBody>
      </p:sp>
      <p:sp>
        <p:nvSpPr>
          <p:cNvPr id="211" name="5"/>
          <p:cNvSpPr/>
          <p:nvPr/>
        </p:nvSpPr>
        <p:spPr>
          <a:xfrm>
            <a:off x="855716" y="7874732"/>
            <a:ext cx="736601" cy="762001"/>
          </a:xfrm>
          <a:prstGeom prst="ellipse">
            <a:avLst/>
          </a:prstGeom>
          <a:solidFill>
            <a:srgbClr val="FFFFFF"/>
          </a:solidFill>
          <a:ln w="762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7022">
              <a:lnSpc>
                <a:spcPct val="100000"/>
              </a:lnSpc>
              <a:spcBef>
                <a:spcPts val="0"/>
              </a:spcBef>
              <a:defRPr sz="3100" b="1"/>
            </a:lvl1pPr>
          </a:lstStyle>
          <a:p>
            <a:r>
              <a:t>5</a:t>
            </a:r>
          </a:p>
        </p:txBody>
      </p:sp>
      <p:sp>
        <p:nvSpPr>
          <p:cNvPr id="212" name="Cerchio"/>
          <p:cNvSpPr/>
          <p:nvPr/>
        </p:nvSpPr>
        <p:spPr>
          <a:xfrm>
            <a:off x="878819" y="2044144"/>
            <a:ext cx="180545" cy="183706"/>
          </a:xfrm>
          <a:prstGeom prst="ellipse">
            <a:avLst/>
          </a:pr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13" name="Immagine" descr="Immagin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reprocess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Preprocessing</a:t>
            </a:r>
          </a:p>
        </p:txBody>
      </p:sp>
      <p:pic>
        <p:nvPicPr>
          <p:cNvPr id="217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  <p:sp>
        <p:nvSpPr>
          <p:cNvPr id="218" name="Filtraggio"/>
          <p:cNvSpPr txBox="1"/>
          <p:nvPr/>
        </p:nvSpPr>
        <p:spPr>
          <a:xfrm>
            <a:off x="564307" y="1571268"/>
            <a:ext cx="2092421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7022">
              <a:lnSpc>
                <a:spcPct val="100000"/>
              </a:lnSpc>
              <a:spcBef>
                <a:spcPts val="0"/>
              </a:spcBef>
              <a:defRPr b="1"/>
            </a:lvl1pPr>
          </a:lstStyle>
          <a:p>
            <a:r>
              <a:t>Filtraggio</a:t>
            </a:r>
          </a:p>
        </p:txBody>
      </p:sp>
      <p:sp>
        <p:nvSpPr>
          <p:cNvPr id="219" name="Re-referencing (CAR)"/>
          <p:cNvSpPr txBox="1"/>
          <p:nvPr/>
        </p:nvSpPr>
        <p:spPr>
          <a:xfrm>
            <a:off x="543557" y="5107236"/>
            <a:ext cx="3980308" cy="560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587022">
              <a:lnSpc>
                <a:spcPct val="100000"/>
              </a:lnSpc>
              <a:spcBef>
                <a:spcPts val="0"/>
              </a:spcBef>
              <a:defRPr b="1"/>
            </a:lvl1pPr>
          </a:lstStyle>
          <a:p>
            <a:r>
              <a:t>Re-referencing (CAR)</a:t>
            </a:r>
          </a:p>
        </p:txBody>
      </p:sp>
      <p:sp>
        <p:nvSpPr>
          <p:cNvPr id="220" name="Passbass FIR 0.5-70 Hz (Finestra di Hamming)…"/>
          <p:cNvSpPr txBox="1"/>
          <p:nvPr/>
        </p:nvSpPr>
        <p:spPr>
          <a:xfrm>
            <a:off x="596131" y="2246719"/>
            <a:ext cx="4746342" cy="26047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533400" indent="-533400">
              <a:buSzPct val="100000"/>
              <a:buAutoNum type="arabicPeriod"/>
            </a:pPr>
            <a:r>
              <a:t>Passbass FIR 0.5-70 Hz (Finestra di Hamming)</a:t>
            </a:r>
          </a:p>
          <a:p>
            <a:pPr marL="533400" indent="-533400">
              <a:buSzPct val="100000"/>
              <a:buAutoNum type="arabicPeriod"/>
            </a:pPr>
            <a:r>
              <a:t>Notch FIR a 50 Hz (Interferenza della rete elettrica)</a:t>
            </a:r>
          </a:p>
        </p:txBody>
      </p:sp>
      <p:sp>
        <p:nvSpPr>
          <p:cNvPr id="221" name="Rimozione degli artefatti via ICA…"/>
          <p:cNvSpPr txBox="1"/>
          <p:nvPr/>
        </p:nvSpPr>
        <p:spPr>
          <a:xfrm>
            <a:off x="537381" y="5923482"/>
            <a:ext cx="4863842" cy="1779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533400" indent="-533400">
              <a:buSzPct val="100000"/>
              <a:buAutoNum type="arabicPeriod"/>
            </a:pPr>
            <a:r>
              <a:t>Rimozione degli artefatti via ICA</a:t>
            </a:r>
          </a:p>
          <a:p>
            <a:pPr marL="533400" indent="-533400">
              <a:buSzPct val="100000"/>
              <a:buAutoNum type="arabicPeriod"/>
            </a:pPr>
            <a:r>
              <a:t>Normalizzazione Z-score</a:t>
            </a:r>
          </a:p>
        </p:txBody>
      </p:sp>
      <p:grpSp>
        <p:nvGrpSpPr>
          <p:cNvPr id="224" name="Raggruppa"/>
          <p:cNvGrpSpPr/>
          <p:nvPr/>
        </p:nvGrpSpPr>
        <p:grpSpPr>
          <a:xfrm>
            <a:off x="5439185" y="1543045"/>
            <a:ext cx="7377113" cy="8061589"/>
            <a:chOff x="0" y="0"/>
            <a:chExt cx="7377112" cy="8061588"/>
          </a:xfrm>
        </p:grpSpPr>
        <p:pic>
          <p:nvPicPr>
            <p:cNvPr id="222" name="s-01_raw_vs_clean.png" descr="s-01_raw_vs_clean.png"/>
            <p:cNvPicPr>
              <a:picLocks noChangeAspect="1"/>
            </p:cNvPicPr>
            <p:nvPr/>
          </p:nvPicPr>
          <p:blipFill>
            <a:blip r:embed="rId3"/>
            <a:srcRect l="86" t="3235" r="86" b="328"/>
            <a:stretch>
              <a:fillRect/>
            </a:stretch>
          </p:blipFill>
          <p:spPr>
            <a:xfrm>
              <a:off x="0" y="0"/>
              <a:ext cx="7376957" cy="76353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23" name="Caption"/>
            <p:cNvSpPr/>
            <p:nvPr/>
          </p:nvSpPr>
          <p:spPr>
            <a:xfrm>
              <a:off x="0" y="7737078"/>
              <a:ext cx="7377113" cy="324511"/>
            </a:xfrm>
            <a:prstGeom prst="roundRect">
              <a:avLst>
                <a:gd name="adj" fmla="val 0"/>
              </a:avLst>
            </a:prstGeom>
            <a:solidFill>
              <a:srgbClr val="000000">
                <a:alpha val="0"/>
              </a:srgbClr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t">
              <a:noAutofit/>
            </a:bodyPr>
            <a:lstStyle>
              <a:lvl1pPr algn="ctr">
                <a:lnSpc>
                  <a:spcPct val="100000"/>
                </a:lnSpc>
                <a:spcBef>
                  <a:spcPts val="0"/>
                </a:spcBef>
                <a:defRPr sz="1600">
                  <a:solidFill>
                    <a:srgbClr val="5E5E5E"/>
                  </a:solidFill>
                </a:defRPr>
              </a:lvl1pPr>
            </a:lstStyle>
            <a:p>
              <a:r>
                <a:t>Esempio di dati pre e post Pre-processing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incronizzazione dell’EEG con il momento in cui il partecipante effettua la scelta del deck da cui pescare durante l’IGT…"/>
          <p:cNvSpPr txBox="1">
            <a:spLocks noGrp="1"/>
          </p:cNvSpPr>
          <p:nvPr>
            <p:ph type="body" idx="1"/>
          </p:nvPr>
        </p:nvSpPr>
        <p:spPr>
          <a:xfrm>
            <a:off x="698500" y="1649777"/>
            <a:ext cx="11607800" cy="6454046"/>
          </a:xfrm>
          <a:prstGeom prst="rect">
            <a:avLst/>
          </a:prstGeom>
        </p:spPr>
        <p:txBody>
          <a:bodyPr/>
          <a:lstStyle/>
          <a:p>
            <a:r>
              <a:t>Sincronizzazione dell’EEG con il momento in cui il partecipante effettua la scelta del deck da cui pescare durante l’IGT</a:t>
            </a:r>
          </a:p>
          <a:p>
            <a:r>
              <a:t>Osservazione dell’EEG nella finestra temporale [-2s, 0s]</a:t>
            </a:r>
          </a:p>
          <a:p>
            <a:pPr lvl="1"/>
            <a:r>
              <a:t>Decision Preceding Negativity (DPN)</a:t>
            </a:r>
          </a:p>
          <a:p>
            <a:pPr lvl="1"/>
            <a:r>
              <a:t>Slow Cortical Potentials</a:t>
            </a:r>
          </a:p>
          <a:p>
            <a:pPr lvl="1"/>
            <a:r>
              <a:t>Theta frontale massima durante deliberazione</a:t>
            </a:r>
          </a:p>
          <a:p>
            <a:pPr lvl="1"/>
            <a:r>
              <a:t>Nessuna contaminazione FRN/P300 post-decisionale</a:t>
            </a:r>
            <a:r>
              <a:rPr sz="1200"/>
              <a:t> </a:t>
            </a:r>
          </a:p>
          <a:p>
            <a:r>
              <a:t>Generazione delle label binarie</a:t>
            </a:r>
          </a:p>
        </p:txBody>
      </p:sp>
      <p:sp>
        <p:nvSpPr>
          <p:cNvPr id="227" name="Sincronizzazione ed Epoch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265768">
              <a:defRPr sz="5986" spc="-119"/>
            </a:lvl1pPr>
          </a:lstStyle>
          <a:p>
            <a:r>
              <a:t>Sincronizzazione ed Epoching</a:t>
            </a:r>
          </a:p>
        </p:txBody>
      </p:sp>
      <p:pic>
        <p:nvPicPr>
          <p:cNvPr id="228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Applicando il filtro di Welch:"/>
          <p:cNvSpPr txBox="1">
            <a:spLocks noGrp="1"/>
          </p:cNvSpPr>
          <p:nvPr>
            <p:ph type="body" idx="21"/>
          </p:nvPr>
        </p:nvSpPr>
        <p:spPr>
          <a:xfrm>
            <a:off x="698499" y="1522120"/>
            <a:ext cx="11607802" cy="67180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>
              <a:defRPr sz="3000"/>
            </a:lvl1pPr>
          </a:lstStyle>
          <a:p>
            <a:r>
              <a:t>Applicando il filtro di Welch:</a:t>
            </a:r>
          </a:p>
        </p:txBody>
      </p:sp>
      <p:sp>
        <p:nvSpPr>
          <p:cNvPr id="231" name="Estrazione Feature PS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265768">
              <a:defRPr sz="5986" spc="-119"/>
            </a:lvl1pPr>
          </a:lstStyle>
          <a:p>
            <a:r>
              <a:t>Estrazione Feature PSD</a:t>
            </a:r>
          </a:p>
        </p:txBody>
      </p:sp>
      <p:pic>
        <p:nvPicPr>
          <p:cNvPr id="232" name="filmato-incollato.png" descr="filmato-incoll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065" y="4220852"/>
            <a:ext cx="11700496" cy="3720232"/>
          </a:xfrm>
          <a:prstGeom prst="rect">
            <a:avLst/>
          </a:prstGeom>
          <a:ln w="12700">
            <a:miter lim="400000"/>
          </a:ln>
        </p:spPr>
      </p:pic>
      <p:pic>
        <p:nvPicPr>
          <p:cNvPr id="233" name="Immagine" descr="Imma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Stima la densità spettrale di potenza su ogni epoca di 2 secondi, producendo per ogni canale la potenza media nelle 5 bande…"/>
          <p:cNvSpPr txBox="1"/>
          <p:nvPr/>
        </p:nvSpPr>
        <p:spPr>
          <a:xfrm>
            <a:off x="698499" y="2259774"/>
            <a:ext cx="11607802" cy="1779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marL="381000" indent="-381000">
              <a:buSzPct val="123000"/>
              <a:buChar char="•"/>
            </a:lvl1pPr>
            <a:lvl2pPr marL="762000" indent="-381000">
              <a:buSzPct val="123000"/>
              <a:buChar char="•"/>
            </a:lvl2pPr>
          </a:lstStyle>
          <a:p>
            <a:r>
              <a:t>Stima la densità spettrale di potenza su ogni epoca di 2 secondi, producendo per ogni canale la potenza media nelle 5 bande</a:t>
            </a:r>
          </a:p>
          <a:p>
            <a:pPr lvl="1"/>
            <a:r>
              <a:t>105 feature/epoca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lassificazione Multi-modello &amp; Validazione LOSO"/>
          <p:cNvSpPr txBox="1">
            <a:spLocks noGrp="1"/>
          </p:cNvSpPr>
          <p:nvPr>
            <p:ph type="title"/>
          </p:nvPr>
        </p:nvSpPr>
        <p:spPr>
          <a:xfrm>
            <a:off x="698500" y="440266"/>
            <a:ext cx="11607800" cy="1785134"/>
          </a:xfrm>
          <a:prstGeom prst="rect">
            <a:avLst/>
          </a:prstGeom>
        </p:spPr>
        <p:txBody>
          <a:bodyPr/>
          <a:lstStyle>
            <a:lvl1pPr defTabSz="1283108">
              <a:defRPr sz="6068" spc="-121"/>
            </a:lvl1pPr>
          </a:lstStyle>
          <a:p>
            <a:r>
              <a:t>Classificazione Multi-modello &amp; Validazione LOSO</a:t>
            </a:r>
            <a:endParaRPr sz="888" b="0" spc="-17"/>
          </a:p>
        </p:txBody>
      </p:sp>
      <p:pic>
        <p:nvPicPr>
          <p:cNvPr id="237" name="filmato-incollato.png" descr="filmato-incoll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2966769"/>
            <a:ext cx="11607800" cy="2272351"/>
          </a:xfrm>
          <a:prstGeom prst="rect">
            <a:avLst/>
          </a:prstGeom>
          <a:ln w="12700">
            <a:miter lim="400000"/>
          </a:ln>
        </p:spPr>
      </p:pic>
      <p:sp>
        <p:nvSpPr>
          <p:cNvPr id="238" name="Strategia di Validazione: Leave-One-Subject-Out (LOSO)"/>
          <p:cNvSpPr txBox="1"/>
          <p:nvPr/>
        </p:nvSpPr>
        <p:spPr>
          <a:xfrm>
            <a:off x="700281" y="5555149"/>
            <a:ext cx="11604238" cy="560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/>
            </a:lvl1pPr>
          </a:lstStyle>
          <a:p>
            <a:r>
              <a:t>Strategia di Validazione: Leave-One-Subject-Out (LOSO)</a:t>
            </a:r>
          </a:p>
        </p:txBody>
      </p:sp>
      <p:sp>
        <p:nvSpPr>
          <p:cNvPr id="239" name="Classificazione"/>
          <p:cNvSpPr txBox="1"/>
          <p:nvPr/>
        </p:nvSpPr>
        <p:spPr>
          <a:xfrm>
            <a:off x="700281" y="2315860"/>
            <a:ext cx="11604238" cy="560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/>
            </a:lvl1pPr>
          </a:lstStyle>
          <a:p>
            <a:r>
              <a:t>Classificazione</a:t>
            </a:r>
          </a:p>
        </p:txBody>
      </p:sp>
      <p:sp>
        <p:nvSpPr>
          <p:cNvPr id="240" name="S-01"/>
          <p:cNvSpPr/>
          <p:nvPr/>
        </p:nvSpPr>
        <p:spPr>
          <a:xfrm>
            <a:off x="823259" y="7083973"/>
            <a:ext cx="1267511" cy="1270001"/>
          </a:xfrm>
          <a:prstGeom prst="roundRect">
            <a:avLst>
              <a:gd name="adj" fmla="val 22325"/>
            </a:avLst>
          </a:prstGeom>
          <a:solidFill>
            <a:schemeClr val="accent1">
              <a:lumOff val="16847"/>
              <a:alpha val="80395"/>
            </a:schemeClr>
          </a:solidFill>
          <a:ln w="508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S-01</a:t>
            </a:r>
          </a:p>
        </p:txBody>
      </p:sp>
      <p:sp>
        <p:nvSpPr>
          <p:cNvPr id="241" name="S-02"/>
          <p:cNvSpPr/>
          <p:nvPr/>
        </p:nvSpPr>
        <p:spPr>
          <a:xfrm>
            <a:off x="2267754" y="7083973"/>
            <a:ext cx="1267511" cy="1270001"/>
          </a:xfrm>
          <a:prstGeom prst="roundRect">
            <a:avLst>
              <a:gd name="adj" fmla="val 22325"/>
            </a:avLst>
          </a:prstGeom>
          <a:solidFill>
            <a:schemeClr val="accent1">
              <a:lumOff val="16847"/>
              <a:alpha val="80395"/>
            </a:schemeClr>
          </a:solidFill>
          <a:ln w="508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S-02</a:t>
            </a:r>
          </a:p>
        </p:txBody>
      </p:sp>
      <p:sp>
        <p:nvSpPr>
          <p:cNvPr id="242" name="S-03"/>
          <p:cNvSpPr/>
          <p:nvPr/>
        </p:nvSpPr>
        <p:spPr>
          <a:xfrm>
            <a:off x="3712249" y="7083973"/>
            <a:ext cx="1267511" cy="1270001"/>
          </a:xfrm>
          <a:prstGeom prst="roundRect">
            <a:avLst>
              <a:gd name="adj" fmla="val 22325"/>
            </a:avLst>
          </a:prstGeom>
          <a:solidFill>
            <a:schemeClr val="accent1">
              <a:lumOff val="16847"/>
              <a:alpha val="80395"/>
            </a:schemeClr>
          </a:solidFill>
          <a:ln w="508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S-03</a:t>
            </a:r>
          </a:p>
        </p:txBody>
      </p:sp>
      <p:sp>
        <p:nvSpPr>
          <p:cNvPr id="243" name="S-04"/>
          <p:cNvSpPr/>
          <p:nvPr/>
        </p:nvSpPr>
        <p:spPr>
          <a:xfrm>
            <a:off x="5144044" y="7083973"/>
            <a:ext cx="1267511" cy="1270001"/>
          </a:xfrm>
          <a:prstGeom prst="roundRect">
            <a:avLst>
              <a:gd name="adj" fmla="val 22325"/>
            </a:avLst>
          </a:prstGeom>
          <a:solidFill>
            <a:schemeClr val="accent5">
              <a:hueOff val="-82419"/>
              <a:satOff val="-9513"/>
              <a:lumOff val="-16343"/>
              <a:alpha val="80000"/>
            </a:schemeClr>
          </a:solidFill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S-04</a:t>
            </a:r>
          </a:p>
        </p:txBody>
      </p:sp>
      <p:sp>
        <p:nvSpPr>
          <p:cNvPr id="244" name="S-05"/>
          <p:cNvSpPr/>
          <p:nvPr/>
        </p:nvSpPr>
        <p:spPr>
          <a:xfrm>
            <a:off x="6575839" y="7083973"/>
            <a:ext cx="1267511" cy="1270001"/>
          </a:xfrm>
          <a:prstGeom prst="roundRect">
            <a:avLst>
              <a:gd name="adj" fmla="val 22325"/>
            </a:avLst>
          </a:prstGeom>
          <a:solidFill>
            <a:schemeClr val="accent1">
              <a:lumOff val="16847"/>
              <a:alpha val="80395"/>
            </a:schemeClr>
          </a:solidFill>
          <a:ln w="508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S-05</a:t>
            </a:r>
          </a:p>
        </p:txBody>
      </p:sp>
      <p:sp>
        <p:nvSpPr>
          <p:cNvPr id="245" name="S-06"/>
          <p:cNvSpPr/>
          <p:nvPr/>
        </p:nvSpPr>
        <p:spPr>
          <a:xfrm>
            <a:off x="8033034" y="7083973"/>
            <a:ext cx="1267511" cy="1270001"/>
          </a:xfrm>
          <a:prstGeom prst="roundRect">
            <a:avLst>
              <a:gd name="adj" fmla="val 22325"/>
            </a:avLst>
          </a:prstGeom>
          <a:solidFill>
            <a:schemeClr val="accent1">
              <a:lumOff val="16847"/>
              <a:alpha val="80395"/>
            </a:schemeClr>
          </a:solidFill>
          <a:ln w="508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S-06</a:t>
            </a:r>
          </a:p>
        </p:txBody>
      </p:sp>
      <p:sp>
        <p:nvSpPr>
          <p:cNvPr id="246" name="S-55"/>
          <p:cNvSpPr/>
          <p:nvPr/>
        </p:nvSpPr>
        <p:spPr>
          <a:xfrm>
            <a:off x="9851907" y="7083973"/>
            <a:ext cx="1267511" cy="1270001"/>
          </a:xfrm>
          <a:prstGeom prst="roundRect">
            <a:avLst>
              <a:gd name="adj" fmla="val 22325"/>
            </a:avLst>
          </a:prstGeom>
          <a:solidFill>
            <a:schemeClr val="accent1">
              <a:lumOff val="16847"/>
              <a:alpha val="80395"/>
            </a:schemeClr>
          </a:solidFill>
          <a:ln w="508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S-55</a:t>
            </a:r>
          </a:p>
        </p:txBody>
      </p:sp>
      <p:sp>
        <p:nvSpPr>
          <p:cNvPr id="247" name="…"/>
          <p:cNvSpPr txBox="1"/>
          <p:nvPr/>
        </p:nvSpPr>
        <p:spPr>
          <a:xfrm>
            <a:off x="9334926" y="7829237"/>
            <a:ext cx="495301" cy="548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…</a:t>
            </a:r>
          </a:p>
        </p:txBody>
      </p:sp>
      <p:sp>
        <p:nvSpPr>
          <p:cNvPr id="248" name="Ad ogni fold, addestriamo su 54 soggetti e testiamo sul 55esimo"/>
          <p:cNvSpPr txBox="1"/>
          <p:nvPr/>
        </p:nvSpPr>
        <p:spPr>
          <a:xfrm>
            <a:off x="684547" y="6203990"/>
            <a:ext cx="11635706" cy="548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marL="381000" indent="-381000">
              <a:buSzPct val="123000"/>
              <a:buChar char="•"/>
            </a:lvl1pPr>
          </a:lstStyle>
          <a:p>
            <a:r>
              <a:t>Ad ogni fold, addestriamo su 54 soggetti e testiamo sul 55esimo</a:t>
            </a:r>
          </a:p>
        </p:txBody>
      </p:sp>
      <p:pic>
        <p:nvPicPr>
          <p:cNvPr id="249" name="Immagine" descr="Imma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  <p:sp>
        <p:nvSpPr>
          <p:cNvPr id="250" name="Soggetto di test"/>
          <p:cNvSpPr txBox="1"/>
          <p:nvPr/>
        </p:nvSpPr>
        <p:spPr>
          <a:xfrm>
            <a:off x="4994020" y="8416659"/>
            <a:ext cx="1592959" cy="8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defRPr>
            </a:lvl1pPr>
          </a:lstStyle>
          <a:p>
            <a:r>
              <a:t>Soggetto di test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isultati - Metriche di classificazione"/>
          <p:cNvSpPr txBox="1">
            <a:spLocks noGrp="1"/>
          </p:cNvSpPr>
          <p:nvPr>
            <p:ph type="title"/>
          </p:nvPr>
        </p:nvSpPr>
        <p:spPr>
          <a:xfrm>
            <a:off x="698500" y="440266"/>
            <a:ext cx="12046808" cy="1013653"/>
          </a:xfrm>
          <a:prstGeom prst="rect">
            <a:avLst/>
          </a:prstGeom>
        </p:spPr>
        <p:txBody>
          <a:bodyPr/>
          <a:lstStyle>
            <a:lvl1pPr defTabSz="1612554">
              <a:defRPr sz="5580" spc="-111"/>
            </a:lvl1pPr>
          </a:lstStyle>
          <a:p>
            <a:r>
              <a:t>Risultati - Metriche di classificazione</a:t>
            </a:r>
          </a:p>
        </p:txBody>
      </p:sp>
      <p:pic>
        <p:nvPicPr>
          <p:cNvPr id="253" name="confusion_matrices.png" descr="confusion_matrices.png"/>
          <p:cNvPicPr>
            <a:picLocks noChangeAspect="1"/>
          </p:cNvPicPr>
          <p:nvPr/>
        </p:nvPicPr>
        <p:blipFill>
          <a:blip r:embed="rId2"/>
          <a:srcRect t="10302" r="32937"/>
          <a:stretch>
            <a:fillRect/>
          </a:stretch>
        </p:blipFill>
        <p:spPr>
          <a:xfrm>
            <a:off x="720125" y="1311212"/>
            <a:ext cx="10956628" cy="409961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4" name="Immagine" descr="Imma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5" name="roc_curves.png" descr="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582" y="5706497"/>
            <a:ext cx="4519547" cy="3873897"/>
          </a:xfrm>
          <a:prstGeom prst="rect">
            <a:avLst/>
          </a:prstGeom>
          <a:ln w="12700">
            <a:miter lim="400000"/>
          </a:ln>
        </p:spPr>
      </p:pic>
      <p:pic>
        <p:nvPicPr>
          <p:cNvPr id="256" name="confusion_matrices.png" descr="confusion_matrices.png"/>
          <p:cNvPicPr>
            <a:picLocks noChangeAspect="1"/>
          </p:cNvPicPr>
          <p:nvPr/>
        </p:nvPicPr>
        <p:blipFill>
          <a:blip r:embed="rId2"/>
          <a:srcRect l="67270" t="14093" b="964"/>
          <a:stretch>
            <a:fillRect/>
          </a:stretch>
        </p:blipFill>
        <p:spPr>
          <a:xfrm>
            <a:off x="759428" y="5706497"/>
            <a:ext cx="5335856" cy="38739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isultati - Variabilità intersoggettiv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1612554">
              <a:defRPr sz="5580" spc="-111"/>
            </a:lvl1pPr>
          </a:lstStyle>
          <a:p>
            <a:r>
              <a:rPr dirty="0" err="1"/>
              <a:t>Risultati</a:t>
            </a:r>
            <a:r>
              <a:rPr dirty="0"/>
              <a:t> </a:t>
            </a:r>
            <a:r>
              <a:rPr lang="it-IT" dirty="0"/>
              <a:t>-</a:t>
            </a:r>
            <a:r>
              <a:rPr dirty="0"/>
              <a:t> </a:t>
            </a:r>
            <a:r>
              <a:rPr dirty="0" err="1"/>
              <a:t>Variabilità</a:t>
            </a:r>
            <a:r>
              <a:rPr lang="it-IT" dirty="0"/>
              <a:t> </a:t>
            </a:r>
            <a:r>
              <a:rPr dirty="0" err="1"/>
              <a:t>intersoggettiva</a:t>
            </a:r>
            <a:endParaRPr dirty="0"/>
          </a:p>
        </p:txBody>
      </p:sp>
      <p:grpSp>
        <p:nvGrpSpPr>
          <p:cNvPr id="261" name="Raggruppa"/>
          <p:cNvGrpSpPr/>
          <p:nvPr/>
        </p:nvGrpSpPr>
        <p:grpSpPr>
          <a:xfrm>
            <a:off x="370284" y="1456828"/>
            <a:ext cx="12264232" cy="4461785"/>
            <a:chOff x="0" y="0"/>
            <a:chExt cx="12264230" cy="4461784"/>
          </a:xfrm>
        </p:grpSpPr>
        <p:pic>
          <p:nvPicPr>
            <p:cNvPr id="259" name="metrics_boxplot.png" descr="metrics_boxplot.png"/>
            <p:cNvPicPr>
              <a:picLocks noChangeAspect="1"/>
            </p:cNvPicPr>
            <p:nvPr/>
          </p:nvPicPr>
          <p:blipFill>
            <a:blip r:embed="rId2"/>
            <a:srcRect t="6795" r="20082"/>
            <a:stretch>
              <a:fillRect/>
            </a:stretch>
          </p:blipFill>
          <p:spPr>
            <a:xfrm>
              <a:off x="0" y="0"/>
              <a:ext cx="12264229" cy="39731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0" name="Title"/>
            <p:cNvSpPr/>
            <p:nvPr/>
          </p:nvSpPr>
          <p:spPr>
            <a:xfrm>
              <a:off x="0" y="4074715"/>
              <a:ext cx="12264232" cy="387070"/>
            </a:xfrm>
            <a:prstGeom prst="roundRect">
              <a:avLst>
                <a:gd name="adj" fmla="val 0"/>
              </a:avLst>
            </a:prstGeom>
            <a:solidFill>
              <a:srgbClr val="000000">
                <a:alpha val="0"/>
              </a:srgbClr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t">
              <a:noAutofit/>
            </a:bodyPr>
            <a:lstStyle>
              <a:lvl1pPr defTabSz="587022">
                <a:lnSpc>
                  <a:spcPct val="100000"/>
                </a:lnSpc>
                <a:spcBef>
                  <a:spcPts val="0"/>
                </a:spcBef>
                <a:defRPr sz="1800" b="1"/>
              </a:lvl1pPr>
            </a:lstStyle>
            <a:p>
              <a:r>
                <a:t>							Distribuzione Metriche per Fold - LOSO</a:t>
              </a:r>
            </a:p>
          </p:txBody>
        </p:sp>
      </p:grpSp>
      <p:pic>
        <p:nvPicPr>
          <p:cNvPr id="262" name="metrics_boxplot.png" descr="metrics_boxplot.png"/>
          <p:cNvPicPr>
            <a:picLocks noChangeAspect="1"/>
          </p:cNvPicPr>
          <p:nvPr/>
        </p:nvPicPr>
        <p:blipFill>
          <a:blip r:embed="rId2"/>
          <a:srcRect l="79768" t="7733"/>
          <a:stretch>
            <a:fillRect/>
          </a:stretch>
        </p:blipFill>
        <p:spPr>
          <a:xfrm>
            <a:off x="419175" y="5617499"/>
            <a:ext cx="3136420" cy="3973291"/>
          </a:xfrm>
          <a:prstGeom prst="rect">
            <a:avLst/>
          </a:prstGeom>
          <a:ln w="12700">
            <a:miter lim="400000"/>
          </a:ln>
        </p:spPr>
      </p:pic>
      <p:pic>
        <p:nvPicPr>
          <p:cNvPr id="263" name="Immagine" descr="Imma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Interpretazione neuroscientifica - Feature Importance"/>
          <p:cNvSpPr txBox="1">
            <a:spLocks noGrp="1"/>
          </p:cNvSpPr>
          <p:nvPr>
            <p:ph type="title"/>
          </p:nvPr>
        </p:nvSpPr>
        <p:spPr>
          <a:xfrm>
            <a:off x="698500" y="397933"/>
            <a:ext cx="11607800" cy="1537428"/>
          </a:xfrm>
          <a:prstGeom prst="rect">
            <a:avLst/>
          </a:prstGeom>
        </p:spPr>
        <p:txBody>
          <a:bodyPr/>
          <a:lstStyle>
            <a:lvl1pPr defTabSz="1092375">
              <a:defRPr sz="5166" spc="-103"/>
            </a:lvl1pPr>
          </a:lstStyle>
          <a:p>
            <a:r>
              <a:t>Interpretazione neuroscientifica - Feature Importance</a:t>
            </a:r>
          </a:p>
        </p:txBody>
      </p:sp>
      <p:pic>
        <p:nvPicPr>
          <p:cNvPr id="266" name="feature_importance.png" descr="feature_importance.png"/>
          <p:cNvPicPr>
            <a:picLocks noChangeAspect="1"/>
          </p:cNvPicPr>
          <p:nvPr/>
        </p:nvPicPr>
        <p:blipFill>
          <a:blip r:embed="rId2"/>
          <a:srcRect l="531" t="9242" r="50135" b="503"/>
          <a:stretch>
            <a:fillRect/>
          </a:stretch>
        </p:blipFill>
        <p:spPr>
          <a:xfrm>
            <a:off x="6907299" y="1303526"/>
            <a:ext cx="5926005" cy="4156543"/>
          </a:xfrm>
          <a:prstGeom prst="rect">
            <a:avLst/>
          </a:prstGeom>
          <a:ln w="12700">
            <a:miter lim="400000"/>
          </a:ln>
        </p:spPr>
      </p:pic>
      <p:pic>
        <p:nvPicPr>
          <p:cNvPr id="267" name="feature_importance.png" descr="feature_importance.png"/>
          <p:cNvPicPr>
            <a:picLocks noChangeAspect="1"/>
          </p:cNvPicPr>
          <p:nvPr/>
        </p:nvPicPr>
        <p:blipFill>
          <a:blip r:embed="rId2"/>
          <a:srcRect l="50018" t="9242" r="396" b="501"/>
          <a:stretch>
            <a:fillRect/>
          </a:stretch>
        </p:blipFill>
        <p:spPr>
          <a:xfrm>
            <a:off x="6877116" y="5451905"/>
            <a:ext cx="5956117" cy="4156475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Corteccia Prefrontale (PFC)…"/>
          <p:cNvSpPr txBox="1"/>
          <p:nvPr/>
        </p:nvSpPr>
        <p:spPr>
          <a:xfrm>
            <a:off x="673567" y="1939090"/>
            <a:ext cx="6194147" cy="5926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317500" indent="-317500">
              <a:spcBef>
                <a:spcPts val="700"/>
              </a:spcBef>
              <a:buSzPct val="123000"/>
              <a:buChar char="•"/>
              <a:defRPr sz="2600"/>
            </a:pPr>
            <a:r>
              <a:rPr b="1">
                <a:solidFill>
                  <a:srgbClr val="1B2A4A"/>
                </a:solidFill>
              </a:rPr>
              <a:t>Corteccia Prefrontale (PFC)</a:t>
            </a:r>
          </a:p>
          <a:p>
            <a:pPr marL="698500" lvl="1" indent="-317500">
              <a:spcBef>
                <a:spcPts val="700"/>
              </a:spcBef>
              <a:buSzPct val="123000"/>
              <a:buChar char="•"/>
              <a:defRPr sz="2600"/>
            </a:pPr>
            <a:r>
              <a:t>Risk Assessment &amp; elaborazione del reward</a:t>
            </a:r>
          </a:p>
          <a:p>
            <a:pPr marL="317500" indent="-317500">
              <a:spcBef>
                <a:spcPts val="1200"/>
              </a:spcBef>
              <a:buSzPct val="123000"/>
              <a:buChar char="•"/>
              <a:defRPr sz="2600"/>
            </a:pPr>
            <a:r>
              <a:rPr b="1">
                <a:solidFill>
                  <a:srgbClr val="1B2A4A"/>
                </a:solidFill>
              </a:rPr>
              <a:t>Onde lente (Theta &amp; Delta) pre-decisionali</a:t>
            </a:r>
          </a:p>
          <a:p>
            <a:pPr marL="698500" lvl="1" indent="-317500">
              <a:spcBef>
                <a:spcPts val="700"/>
              </a:spcBef>
              <a:buSzPct val="123000"/>
              <a:buChar char="•"/>
              <a:defRPr sz="2600"/>
            </a:pPr>
            <a:r>
              <a:t>Substrato neurale della gestione dell’incertezza</a:t>
            </a:r>
          </a:p>
          <a:p>
            <a:pPr marL="698500" lvl="1" indent="-317500">
              <a:spcBef>
                <a:spcPts val="700"/>
              </a:spcBef>
              <a:buSzPct val="123000"/>
              <a:buChar char="•"/>
              <a:defRPr sz="2600"/>
            </a:pPr>
            <a:r>
              <a:t>Reclutamento del controllo cognitivo</a:t>
            </a:r>
          </a:p>
          <a:p>
            <a:pPr marL="317500" indent="-317500">
              <a:spcBef>
                <a:spcPts val="1200"/>
              </a:spcBef>
              <a:buSzPct val="123000"/>
              <a:buChar char="•"/>
              <a:defRPr sz="2600"/>
            </a:pPr>
            <a:r>
              <a:rPr b="1">
                <a:solidFill>
                  <a:srgbClr val="1B2A4A"/>
                </a:solidFill>
              </a:rPr>
              <a:t>Somatic Marker Hypothesis (Damasio)</a:t>
            </a:r>
          </a:p>
          <a:p>
            <a:pPr marL="698500" lvl="1" indent="-317500">
              <a:spcBef>
                <a:spcPts val="700"/>
              </a:spcBef>
              <a:buSzPct val="123000"/>
              <a:buChar char="•"/>
              <a:defRPr sz="2600"/>
            </a:pPr>
            <a:r>
              <a:t>Stato somatico emotivo guida la scelta prima della deliberazione consapevole</a:t>
            </a:r>
          </a:p>
        </p:txBody>
      </p:sp>
      <p:pic>
        <p:nvPicPr>
          <p:cNvPr id="269" name="Immagine" descr="Imma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Confronto con il paper origina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Confronto con il paper originale</a:t>
            </a:r>
          </a:p>
        </p:txBody>
      </p:sp>
      <p:pic>
        <p:nvPicPr>
          <p:cNvPr id="272" name="filmato-incollato.png" descr="filmato-incoll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095" y="1818216"/>
            <a:ext cx="11860730" cy="4565208"/>
          </a:xfrm>
          <a:prstGeom prst="rect">
            <a:avLst/>
          </a:prstGeom>
          <a:ln w="12700">
            <a:miter lim="400000"/>
          </a:ln>
        </p:spPr>
      </p:pic>
      <p:pic>
        <p:nvPicPr>
          <p:cNvPr id="273" name="Immagine" descr="Imma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Limitazioni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Limitazioni</a:t>
            </a:r>
          </a:p>
        </p:txBody>
      </p:sp>
      <p:sp>
        <p:nvSpPr>
          <p:cNvPr id="276" name="Rettangolo arrotondato"/>
          <p:cNvSpPr/>
          <p:nvPr/>
        </p:nvSpPr>
        <p:spPr>
          <a:xfrm>
            <a:off x="681684" y="1581505"/>
            <a:ext cx="11974210" cy="3214970"/>
          </a:xfrm>
          <a:prstGeom prst="roundRect">
            <a:avLst>
              <a:gd name="adj" fmla="val 16031"/>
            </a:avLst>
          </a:prstGeom>
          <a:ln w="508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7" name="Canali auricolari A1/A2 tra le feature importanti"/>
          <p:cNvSpPr txBox="1"/>
          <p:nvPr/>
        </p:nvSpPr>
        <p:spPr>
          <a:xfrm>
            <a:off x="969115" y="1713675"/>
            <a:ext cx="8655940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/>
            </a:lvl1pPr>
          </a:lstStyle>
          <a:p>
            <a:r>
              <a:t>Canali auricolari A1/A2 tra le feature importanti</a:t>
            </a:r>
          </a:p>
        </p:txBody>
      </p:sp>
      <p:sp>
        <p:nvSpPr>
          <p:cNvPr id="278" name="Nonostante CAR e ICA a 15 componenti, l'analisi RF individua residui spettrali su A1/A2.…"/>
          <p:cNvSpPr txBox="1"/>
          <p:nvPr/>
        </p:nvSpPr>
        <p:spPr>
          <a:xfrm>
            <a:off x="839576" y="2360633"/>
            <a:ext cx="11658426" cy="225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317500" indent="-317500">
              <a:spcBef>
                <a:spcPts val="1600"/>
              </a:spcBef>
              <a:buSzPct val="123000"/>
              <a:buChar char="•"/>
              <a:defRPr sz="2500"/>
            </a:pPr>
            <a:r>
              <a:t>Nonostante CAR e ICA a 15 componenti, l'analisi RF individua residui spettrali su A1/A2. </a:t>
            </a:r>
          </a:p>
          <a:p>
            <a:pPr marL="317500" indent="-317500">
              <a:spcBef>
                <a:spcPts val="1600"/>
              </a:spcBef>
              <a:buSzPct val="123000"/>
              <a:buChar char="•"/>
              <a:defRPr sz="2500"/>
            </a:pPr>
            <a:r>
              <a:t>Limite intrinseco del dataset: il paper originale li documenta come possibili sorgenti di artefatti non completamente eliminabili.</a:t>
            </a:r>
          </a:p>
          <a:p>
            <a:pPr marL="317500" indent="-317500">
              <a:spcBef>
                <a:spcPts val="1600"/>
              </a:spcBef>
              <a:buSzPct val="123000"/>
              <a:buChar char="•"/>
              <a:defRPr sz="2500"/>
            </a:pPr>
            <a:r>
              <a:t>La pipeline rimane inalterata per garantire integrità e riproducibilità.</a:t>
            </a:r>
          </a:p>
        </p:txBody>
      </p:sp>
      <p:sp>
        <p:nvSpPr>
          <p:cNvPr id="279" name="Rettangolo arrotondato"/>
          <p:cNvSpPr/>
          <p:nvPr/>
        </p:nvSpPr>
        <p:spPr>
          <a:xfrm>
            <a:off x="681684" y="4985213"/>
            <a:ext cx="11974210" cy="2687722"/>
          </a:xfrm>
          <a:prstGeom prst="roundRect">
            <a:avLst>
              <a:gd name="adj" fmla="val 19176"/>
            </a:avLst>
          </a:prstGeom>
          <a:ln w="508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0" name="Campione demograficamente ristretto"/>
          <p:cNvSpPr txBox="1"/>
          <p:nvPr/>
        </p:nvSpPr>
        <p:spPr>
          <a:xfrm>
            <a:off x="969115" y="5117383"/>
            <a:ext cx="7069075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/>
            </a:lvl1pPr>
          </a:lstStyle>
          <a:p>
            <a:r>
              <a:t>Campione demograficamente ristretto</a:t>
            </a:r>
          </a:p>
        </p:txBody>
      </p:sp>
      <p:sp>
        <p:nvSpPr>
          <p:cNvPr id="281" name="59 partecipanti, tutti studenti universitari di soli due indirizzi (Ingegneria e Scienze Motorie), età media ~21 anni…"/>
          <p:cNvSpPr txBox="1"/>
          <p:nvPr/>
        </p:nvSpPr>
        <p:spPr>
          <a:xfrm>
            <a:off x="839576" y="5738559"/>
            <a:ext cx="11658426" cy="17082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317500" indent="-317500">
              <a:spcBef>
                <a:spcPts val="1600"/>
              </a:spcBef>
              <a:buSzPct val="123000"/>
              <a:buChar char="•"/>
              <a:defRPr sz="2500"/>
            </a:pPr>
            <a:r>
              <a:t>59 partecipanti, tutti studenti universitari di soli due indirizzi (Ingegneria e Scienze Motorie), età media ~21 anni</a:t>
            </a:r>
          </a:p>
          <a:p>
            <a:pPr marL="317500" indent="-317500">
              <a:spcBef>
                <a:spcPts val="1600"/>
              </a:spcBef>
              <a:buSzPct val="123000"/>
              <a:buChar char="•"/>
              <a:defRPr sz="2500"/>
            </a:pPr>
            <a:r>
              <a:t>La generalizzabilità a popolazioni più ampie non è garantita come riconosciuto anche dagli stessi autori del dataset.</a:t>
            </a:r>
          </a:p>
        </p:txBody>
      </p:sp>
      <p:pic>
        <p:nvPicPr>
          <p:cNvPr id="282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  <p:sp>
        <p:nvSpPr>
          <p:cNvPr id="285" name="Pipeline End-to-End Rigorosa: Sviluppo di un'infrastruttura completa, dal segnale EEG grezzo alla classificazione single-trial, replicabile e priva di data leakage.…"/>
          <p:cNvSpPr txBox="1">
            <a:spLocks noGrp="1"/>
          </p:cNvSpPr>
          <p:nvPr>
            <p:ph type="body" idx="1"/>
          </p:nvPr>
        </p:nvSpPr>
        <p:spPr>
          <a:xfrm>
            <a:off x="698500" y="1545762"/>
            <a:ext cx="11850224" cy="7797337"/>
          </a:xfrm>
          <a:prstGeom prst="rect">
            <a:avLst/>
          </a:prstGeom>
        </p:spPr>
        <p:txBody>
          <a:bodyPr/>
          <a:lstStyle/>
          <a:p>
            <a:pPr marL="380999" indent="-380999">
              <a:buFont typeface="Times Roman"/>
              <a:defRPr sz="2700"/>
            </a:pPr>
            <a:r>
              <a:rPr b="1"/>
              <a:t>Pipeline End-to-End Rigorosa:</a:t>
            </a:r>
            <a:r>
              <a:t> Sviluppo di un'infrastruttura completa, dal segnale EEG grezzo alla classificazione </a:t>
            </a:r>
            <a:r>
              <a:rPr i="1"/>
              <a:t>single-trial</a:t>
            </a:r>
            <a:r>
              <a:t>, replicabile e priva di </a:t>
            </a:r>
            <a:r>
              <a:rPr i="1"/>
              <a:t>data leakage</a:t>
            </a:r>
            <a:r>
              <a:t>.</a:t>
            </a:r>
          </a:p>
          <a:p>
            <a:pPr marL="380999" indent="-380999">
              <a:buFont typeface="Times Roman"/>
              <a:defRPr sz="2700"/>
            </a:pPr>
            <a:r>
              <a:rPr b="1"/>
              <a:t>Validazione Generica Universale:</a:t>
            </a:r>
            <a:r>
              <a:t> Il valore di AUC&gt;0.50 ottenuto in cross-validazione </a:t>
            </a:r>
            <a:r>
              <a:rPr b="1"/>
              <a:t>LOSO</a:t>
            </a:r>
            <a:r>
              <a:t> dimostra l'estrazione di predittori neurali indipendenti dal soggetto (generalizzabilità </a:t>
            </a:r>
            <a:r>
              <a:rPr i="1"/>
              <a:t>cross-subject</a:t>
            </a:r>
            <a:r>
              <a:t>).</a:t>
            </a:r>
          </a:p>
          <a:p>
            <a:pPr marL="380999" indent="-380999">
              <a:buFont typeface="Times Roman"/>
              <a:defRPr sz="2700"/>
            </a:pPr>
            <a:r>
              <a:rPr b="1"/>
              <a:t>Conferma Neurofisiologica:</a:t>
            </a:r>
            <a:r>
              <a:t> La dominanza delle feature frontali nelle bande Delta e Theta convalida sperimentalmente il ruolo della Corteccia Prefrontale (PFC) e la </a:t>
            </a:r>
            <a:r>
              <a:rPr i="1"/>
              <a:t>Somatic Marker Hypothesis</a:t>
            </a:r>
            <a:r>
              <a:t>.</a:t>
            </a:r>
          </a:p>
          <a:p>
            <a:pPr marL="380999" indent="-380999">
              <a:buFont typeface="Times Roman"/>
              <a:defRPr sz="2700"/>
            </a:pPr>
            <a:r>
              <a:rPr b="1"/>
              <a:t>Impatto Traslazionale:</a:t>
            </a:r>
            <a:r>
              <a:t> Il progetto funge da </a:t>
            </a:r>
            <a:r>
              <a:rPr i="1"/>
              <a:t>proof-of-concept</a:t>
            </a:r>
            <a:r>
              <a:t> per lo sviluppo di futuri sistemi BCI (Brain-Computer Interface) applicati al supporto decisionale in contesti emotivi e di incertezza.</a:t>
            </a:r>
          </a:p>
          <a:p>
            <a:pPr marL="380999" indent="-380999">
              <a:buFont typeface="Times Roman"/>
              <a:defRPr sz="2700"/>
            </a:pPr>
            <a:r>
              <a:rPr b="1"/>
              <a:t>Open Science:</a:t>
            </a:r>
            <a:r>
              <a:t> Codice sorgente e pipeline interamente documentati </a:t>
            </a:r>
            <a:br/>
            <a:r>
              <a:t>su repository pubblica per garantire la totale riproducibilità dei </a:t>
            </a:r>
            <a:br/>
            <a:r>
              <a:t>risultati.</a:t>
            </a:r>
          </a:p>
        </p:txBody>
      </p:sp>
      <p:sp>
        <p:nvSpPr>
          <p:cNvPr id="286" name="Conclusioni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Conclusioni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Immagine" descr="Imma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46" y="8122609"/>
            <a:ext cx="1461404" cy="1456400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Chávez-Sánchez, M., Torres-Ramos, S., Román-Godínez, I. et al. Behavioral and electroencephalographic dataset simultaneously acquired during the Iowa gambling task. Sci Data 13, 359 (2026). https://doi.org/10.1038/s41597-026-06662-0…"/>
          <p:cNvSpPr txBox="1">
            <a:spLocks noGrp="1"/>
          </p:cNvSpPr>
          <p:nvPr>
            <p:ph type="body" idx="1"/>
          </p:nvPr>
        </p:nvSpPr>
        <p:spPr>
          <a:xfrm>
            <a:off x="698500" y="1560710"/>
            <a:ext cx="11764765" cy="7788078"/>
          </a:xfrm>
          <a:prstGeom prst="rect">
            <a:avLst/>
          </a:prstGeom>
        </p:spPr>
        <p:txBody>
          <a:bodyPr/>
          <a:lstStyle/>
          <a:p>
            <a:pPr marL="373379" indent="-373379" defTabSz="1699251">
              <a:spcBef>
                <a:spcPts val="3100"/>
              </a:spcBef>
              <a:defRPr sz="2254"/>
            </a:pPr>
            <a:r>
              <a:t>Chávez-Sánchez, M., Torres-Ramos, S., Román-Godínez, I. </a:t>
            </a:r>
            <a:r>
              <a:rPr i="1"/>
              <a:t>et al.</a:t>
            </a:r>
            <a:r>
              <a:t> Behavioral and electroencephalographic dataset simultaneously acquired during the Iowa gambling task. </a:t>
            </a:r>
            <a:r>
              <a:rPr i="1"/>
              <a:t>Sci Data</a:t>
            </a:r>
            <a:r>
              <a:t> </a:t>
            </a:r>
            <a:r>
              <a:rPr b="1"/>
              <a:t>13</a:t>
            </a:r>
            <a:r>
              <a:t>, 359 (2026). </a:t>
            </a:r>
            <a:r>
              <a:rPr u="sng">
                <a:hlinkClick r:id="rId3"/>
              </a:rPr>
              <a:t>https://doi.org/10.1038/s41597-026-06662-0</a:t>
            </a:r>
          </a:p>
          <a:p>
            <a:pPr marL="373379" indent="-373379" defTabSz="1699251">
              <a:spcBef>
                <a:spcPts val="3100"/>
              </a:spcBef>
              <a:defRPr sz="2254"/>
            </a:pPr>
            <a:r>
              <a:t>Bechara A, Damasio AR, Damasio H, Anderson SW. Insensitivity to future consequences following damage to human prefrontal cortex. Cognition. 1994 Apr-Jun;50(1-3):7-15. doi: 10.1016/0010-0277(94)90018-3. PMID: 8039375.</a:t>
            </a:r>
          </a:p>
          <a:p>
            <a:pPr marL="373379" indent="-373379" defTabSz="1699251">
              <a:spcBef>
                <a:spcPts val="3100"/>
              </a:spcBef>
              <a:defRPr sz="2254"/>
            </a:pPr>
            <a:r>
              <a:t>Cui JF, Chen YH, Wang Y, Shum DH, Chan RC. Neural correlates of uncertain decision making: ERP evidence from the Iowa Gambling Task. Front Hum Neurosci. 2013 Nov 15;7:776. doi: 10.3389/fnhum.2013.00776. PMID: 24298248; PMCID: PMC3828619.</a:t>
            </a:r>
          </a:p>
          <a:p>
            <a:pPr marL="373379" indent="-373379" defTabSz="1699251">
              <a:spcBef>
                <a:spcPts val="3100"/>
              </a:spcBef>
              <a:defRPr sz="2254"/>
            </a:pPr>
            <a:r>
              <a:t>Bianchin M, Angrilli A. Decision Preceding Negativity in the Iowa Gambling Task: an ERP study. Brain Cogn. 2011 Apr;75(3):273-80. doi: 10.1016/j.bandc.2011.01.005. PMID: 21306813.</a:t>
            </a:r>
          </a:p>
          <a:p>
            <a:pPr marL="373379" indent="-373379" defTabSz="1699251">
              <a:spcBef>
                <a:spcPts val="3100"/>
              </a:spcBef>
              <a:defRPr sz="2254"/>
            </a:pPr>
            <a:r>
              <a:t>Steingroever, H., Fridberg, D. J., Horstmann, A., Kjome, K., Kumari, V., Lane, S. D., Maia, T. V., McClelland, J. L., Pachur, T., Premkumar, P., Stout, J. C., Wetzels, R., Wood, S., Worthy, D. A., &amp; Wagenmakers, E.-J. (2015). Data from 617 healthy participants performing the Iowa Gambling Task: A "many labs" collaboration. Journal of Open Psychology Data, 3(e5), 1 - 6. </a:t>
            </a:r>
            <a:r>
              <a:rPr u="sng">
                <a:hlinkClick r:id="rId4"/>
              </a:rPr>
              <a:t>https://doi.org/10.5334/jopd.ak</a:t>
            </a:r>
          </a:p>
          <a:p>
            <a:pPr marL="373379" indent="-373379" defTabSz="1699251">
              <a:spcBef>
                <a:spcPts val="3100"/>
              </a:spcBef>
              <a:defRPr sz="2254"/>
            </a:pPr>
            <a:r>
              <a:t>Dataset: </a:t>
            </a:r>
            <a:r>
              <a:rPr u="sng">
                <a:hlinkClick r:id="rId5"/>
              </a:rPr>
              <a:t>https://data.mendeley.com/datasets/2pw2m39yct/2</a:t>
            </a:r>
          </a:p>
        </p:txBody>
      </p:sp>
      <p:sp>
        <p:nvSpPr>
          <p:cNvPr id="290" name="Bibliografi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716590">
              <a:defRPr sz="5940" spc="-118"/>
            </a:lvl1pPr>
          </a:lstStyle>
          <a:p>
            <a:r>
              <a:t>Bibliografia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90000"/>
          </a:lnSpc>
          <a:spcBef>
            <a:spcPts val="320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90000"/>
          </a:lnSpc>
          <a:spcBef>
            <a:spcPts val="320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929</Words>
  <Application>Microsoft Macintosh PowerPoint</Application>
  <PresentationFormat>Personalizzato</PresentationFormat>
  <Paragraphs>91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Helvetica Neue</vt:lpstr>
      <vt:lpstr>Helvetica Neue Medium</vt:lpstr>
      <vt:lpstr>Times Roman</vt:lpstr>
      <vt:lpstr>21_BasicWhite</vt:lpstr>
      <vt:lpstr>EEG &amp; Iowa Gambling Task: pipeline EEG-ML per la classificazione delle decisioni </vt:lpstr>
      <vt:lpstr>Obiettivo</vt:lpstr>
      <vt:lpstr>Iowa Gambling Task e Dataset</vt:lpstr>
      <vt:lpstr>Pipeline metodologica</vt:lpstr>
      <vt:lpstr>Preprocessing</vt:lpstr>
      <vt:lpstr>Sincronizzazione ed Epoching</vt:lpstr>
      <vt:lpstr>Estrazione Feature PSD</vt:lpstr>
      <vt:lpstr>Classificazione Multi-modello &amp; Validazione LOSO</vt:lpstr>
      <vt:lpstr>Risultati - Metriche di classificazione</vt:lpstr>
      <vt:lpstr>Risultati - Variabilità intersoggettiva</vt:lpstr>
      <vt:lpstr>Interpretazione neuroscientifica - Feature Importance</vt:lpstr>
      <vt:lpstr>Confronto con il paper originale</vt:lpstr>
      <vt:lpstr>Limitazioni</vt:lpstr>
      <vt:lpstr>Conclusioni</vt:lpstr>
      <vt:lpstr>Bibliografia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BABINI ARIELE</cp:lastModifiedBy>
  <cp:revision>2</cp:revision>
  <dcterms:modified xsi:type="dcterms:W3CDTF">2026-07-03T08:37:57Z</dcterms:modified>
</cp:coreProperties>
</file>