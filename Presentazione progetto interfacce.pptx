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1pPr>
    <a:lvl2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2pPr>
    <a:lvl3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3pPr>
    <a:lvl4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4pPr>
    <a:lvl5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5pPr>
    <a:lvl6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6pPr>
    <a:lvl7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7pPr>
    <a:lvl8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8pPr>
    <a:lvl9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 b="def" i="def"/>
      <a:tcStyle>
        <a:tcBdr/>
        <a:fill>
          <a:solidFill>
            <a:srgbClr val="E6F0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 b="def" i="def"/>
      <a:tcStyle>
        <a:tcBdr/>
        <a:fill>
          <a:solidFill>
            <a:srgbClr val="EAF8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CDDF"/>
          </a:solidFill>
        </a:fill>
      </a:tcStyle>
    </a:wholeTbl>
    <a:band2H>
      <a:tcTxStyle b="def" i="def"/>
      <a:tcStyle>
        <a:tcBdr/>
        <a:fill>
          <a:solidFill>
            <a:srgbClr val="FFE8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rpo livello uno…"/>
          <p:cNvSpPr txBox="1"/>
          <p:nvPr>
            <p:ph type="body" sz="quarter" idx="1" hasCustomPrompt="1"/>
          </p:nvPr>
        </p:nvSpPr>
        <p:spPr>
          <a:xfrm>
            <a:off x="698500" y="8657487"/>
            <a:ext cx="11607801" cy="461061"/>
          </a:xfrm>
          <a:prstGeom prst="rect">
            <a:avLst/>
          </a:prstGeom>
        </p:spPr>
        <p:txBody>
          <a:bodyPr anchor="b"/>
          <a:lstStyle>
            <a:lvl1pPr marL="0" indent="0" defTabSz="563540">
              <a:lnSpc>
                <a:spcPct val="100000"/>
              </a:lnSpc>
              <a:spcBef>
                <a:spcPts val="0"/>
              </a:spcBef>
              <a:buSzTx/>
              <a:buNone/>
              <a:defRPr b="1" sz="2300"/>
            </a:lvl1pPr>
            <a:lvl2pPr marL="673100" indent="-292100" defTabSz="563540">
              <a:lnSpc>
                <a:spcPct val="100000"/>
              </a:lnSpc>
              <a:spcBef>
                <a:spcPts val="0"/>
              </a:spcBef>
              <a:defRPr b="1" sz="2300"/>
            </a:lvl2pPr>
            <a:lvl3pPr marL="1054100" indent="-292100" defTabSz="563540">
              <a:lnSpc>
                <a:spcPct val="100000"/>
              </a:lnSpc>
              <a:spcBef>
                <a:spcPts val="0"/>
              </a:spcBef>
              <a:defRPr b="1" sz="2300"/>
            </a:lvl3pPr>
            <a:lvl4pPr marL="1435100" indent="-292100" defTabSz="563540">
              <a:lnSpc>
                <a:spcPct val="100000"/>
              </a:lnSpc>
              <a:spcBef>
                <a:spcPts val="0"/>
              </a:spcBef>
              <a:defRPr b="1" sz="2300"/>
            </a:lvl4pPr>
            <a:lvl5pPr marL="1816100" indent="-292100" defTabSz="563540">
              <a:lnSpc>
                <a:spcPct val="100000"/>
              </a:lnSpc>
              <a:spcBef>
                <a:spcPts val="0"/>
              </a:spcBef>
              <a:defRPr b="1" sz="2300"/>
            </a:lvl5pPr>
          </a:lstStyle>
          <a:p>
            <a:pPr/>
            <a:r>
              <a:t>Autore e data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" name="Titolo presentazione"/>
          <p:cNvSpPr txBox="1"/>
          <p:nvPr>
            <p:ph type="title" hasCustomPrompt="1"/>
          </p:nvPr>
        </p:nvSpPr>
        <p:spPr>
          <a:xfrm>
            <a:off x="698500" y="1854200"/>
            <a:ext cx="11609058" cy="3302000"/>
          </a:xfrm>
          <a:prstGeom prst="rect">
            <a:avLst/>
          </a:prstGeom>
        </p:spPr>
        <p:txBody>
          <a:bodyPr anchor="b"/>
          <a:lstStyle>
            <a:lvl1pPr>
              <a:defRPr spc="-164" sz="8200"/>
            </a:lvl1pPr>
          </a:lstStyle>
          <a:p>
            <a:pPr/>
            <a:r>
              <a:t>Titolo presentazione</a:t>
            </a:r>
          </a:p>
        </p:txBody>
      </p:sp>
      <p:sp>
        <p:nvSpPr>
          <p:cNvPr id="13" name="Corpo livello uno…"/>
          <p:cNvSpPr txBox="1"/>
          <p:nvPr>
            <p:ph type="body" sz="quarter" idx="21" hasCustomPrompt="1"/>
          </p:nvPr>
        </p:nvSpPr>
        <p:spPr>
          <a:xfrm>
            <a:off x="698500" y="5105400"/>
            <a:ext cx="11607800" cy="145639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Sottotitolo presentazione</a:t>
            </a:r>
          </a:p>
        </p:txBody>
      </p:sp>
      <p:sp>
        <p:nvSpPr>
          <p:cNvPr id="14" name="Numero diapositiva"/>
          <p:cNvSpPr txBox="1"/>
          <p:nvPr>
            <p:ph type="sldNum" sz="quarter" idx="2"/>
          </p:nvPr>
        </p:nvSpPr>
        <p:spPr>
          <a:xfrm>
            <a:off x="6353454" y="9220200"/>
            <a:ext cx="297892" cy="28747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 e lime"/>
          <p:cNvSpPr/>
          <p:nvPr>
            <p:ph type="pic" idx="21"/>
          </p:nvPr>
        </p:nvSpPr>
        <p:spPr>
          <a:xfrm>
            <a:off x="-376767" y="-915894"/>
            <a:ext cx="17835653" cy="1068219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Titolo presentazione"/>
          <p:cNvSpPr txBox="1"/>
          <p:nvPr>
            <p:ph type="title" hasCustomPrompt="1"/>
          </p:nvPr>
        </p:nvSpPr>
        <p:spPr>
          <a:xfrm>
            <a:off x="698500" y="5181600"/>
            <a:ext cx="11607800" cy="3302000"/>
          </a:xfrm>
          <a:prstGeom prst="rect">
            <a:avLst/>
          </a:prstGeom>
        </p:spPr>
        <p:txBody>
          <a:bodyPr anchor="b"/>
          <a:lstStyle>
            <a:lvl1pPr>
              <a:defRPr spc="-164" sz="8200"/>
            </a:lvl1pPr>
          </a:lstStyle>
          <a:p>
            <a:pPr/>
            <a:r>
              <a:t>Titolo presentazione</a:t>
            </a:r>
          </a:p>
        </p:txBody>
      </p:sp>
      <p:sp>
        <p:nvSpPr>
          <p:cNvPr id="23" name="Corpo livello uno…"/>
          <p:cNvSpPr txBox="1"/>
          <p:nvPr>
            <p:ph type="body" sz="quarter" idx="1" hasCustomPrompt="1"/>
          </p:nvPr>
        </p:nvSpPr>
        <p:spPr>
          <a:xfrm>
            <a:off x="698500" y="8432800"/>
            <a:ext cx="11607800" cy="68976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  <a:lvl2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2pPr>
            <a:lvl3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3pPr>
            <a:lvl4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4pPr>
            <a:lvl5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5pPr>
          </a:lstStyle>
          <a:p>
            <a:pPr/>
            <a:r>
              <a:t>Sottotitolo presentazione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Autore e data"/>
          <p:cNvSpPr txBox="1"/>
          <p:nvPr>
            <p:ph type="body" sz="quarter" idx="22" hasCustomPrompt="1"/>
          </p:nvPr>
        </p:nvSpPr>
        <p:spPr>
          <a:xfrm>
            <a:off x="698499" y="571499"/>
            <a:ext cx="11607803" cy="461061"/>
          </a:xfrm>
          <a:prstGeom prst="rect">
            <a:avLst/>
          </a:prstGeom>
        </p:spPr>
        <p:txBody>
          <a:bodyPr/>
          <a:lstStyle>
            <a:lvl1pPr marL="0" indent="0" defTabSz="563540">
              <a:lnSpc>
                <a:spcPct val="100000"/>
              </a:lnSpc>
              <a:spcBef>
                <a:spcPts val="0"/>
              </a:spcBef>
              <a:buSzTx/>
              <a:buNone/>
              <a:defRPr b="1" sz="2300"/>
            </a:lvl1pPr>
          </a:lstStyle>
          <a:p>
            <a:pPr/>
            <a:r>
              <a:t>Autore e data</a:t>
            </a:r>
          </a:p>
        </p:txBody>
      </p:sp>
      <p:sp>
        <p:nvSpPr>
          <p:cNvPr id="25" name="Numero diapositiva"/>
          <p:cNvSpPr txBox="1"/>
          <p:nvPr>
            <p:ph type="sldNum" sz="quarter" idx="2"/>
          </p:nvPr>
        </p:nvSpPr>
        <p:spPr>
          <a:xfrm>
            <a:off x="6349999" y="9220200"/>
            <a:ext cx="297892" cy="28747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iotola con frittelle al salmone, insalata e hummus "/>
          <p:cNvSpPr/>
          <p:nvPr>
            <p:ph type="pic" idx="21"/>
          </p:nvPr>
        </p:nvSpPr>
        <p:spPr>
          <a:xfrm>
            <a:off x="5319128" y="495298"/>
            <a:ext cx="7543802" cy="878006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Corpo livello uno…"/>
          <p:cNvSpPr txBox="1"/>
          <p:nvPr>
            <p:ph type="body" sz="quarter" idx="1" hasCustomPrompt="1"/>
          </p:nvPr>
        </p:nvSpPr>
        <p:spPr>
          <a:xfrm>
            <a:off x="698500" y="5003800"/>
            <a:ext cx="5105400" cy="4044566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  <a:lvl2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2pPr>
            <a:lvl3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3pPr>
            <a:lvl4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4pPr>
            <a:lvl5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5pPr>
          </a:lstStyle>
          <a:p>
            <a:pPr/>
            <a:r>
              <a:t>Sottotitolo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4" name="Titolo"/>
          <p:cNvSpPr txBox="1"/>
          <p:nvPr>
            <p:ph type="title" hasCustomPrompt="1"/>
          </p:nvPr>
        </p:nvSpPr>
        <p:spPr>
          <a:xfrm>
            <a:off x="698500" y="692533"/>
            <a:ext cx="5105400" cy="4387467"/>
          </a:xfrm>
          <a:prstGeom prst="rect">
            <a:avLst/>
          </a:prstGeom>
        </p:spPr>
        <p:txBody>
          <a:bodyPr anchor="b"/>
          <a:lstStyle/>
          <a:p>
            <a:pPr/>
            <a:r>
              <a:t>Titolo</a:t>
            </a:r>
          </a:p>
        </p:txBody>
      </p:sp>
      <p:sp>
        <p:nvSpPr>
          <p:cNvPr id="35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d ele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orpo livello uno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Testo elenco puntato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3" name="Sottotitolo diapositiva"/>
          <p:cNvSpPr txBox="1"/>
          <p:nvPr>
            <p:ph type="body" sz="quarter" idx="21" hasCustomPrompt="1"/>
          </p:nvPr>
        </p:nvSpPr>
        <p:spPr>
          <a:xfrm>
            <a:off x="698499" y="1412977"/>
            <a:ext cx="11607803" cy="671804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Sottotitolo diapositiva</a:t>
            </a:r>
          </a:p>
        </p:txBody>
      </p:sp>
      <p:sp>
        <p:nvSpPr>
          <p:cNvPr id="44" name="Titolo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Titolo</a:t>
            </a:r>
          </a:p>
        </p:txBody>
      </p:sp>
      <p:sp>
        <p:nvSpPr>
          <p:cNvPr id="45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Ele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Corpo livello uno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589358"/>
          <a:lstStyle/>
          <a:p>
            <a:pPr/>
            <a:r>
              <a:t>Testo elenco puntato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, elenco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appardelle con burro al prezzemolo, nocciole tostate e scaglie di parmigiano"/>
          <p:cNvSpPr/>
          <p:nvPr>
            <p:ph type="pic" idx="21"/>
          </p:nvPr>
        </p:nvSpPr>
        <p:spPr>
          <a:xfrm>
            <a:off x="6172200" y="596900"/>
            <a:ext cx="6448425" cy="8597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Titolo"/>
          <p:cNvSpPr txBox="1"/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pPr/>
            <a:r>
              <a:t>Titolo</a:t>
            </a:r>
          </a:p>
        </p:txBody>
      </p:sp>
      <p:sp>
        <p:nvSpPr>
          <p:cNvPr id="62" name="Corpo livello uno…"/>
          <p:cNvSpPr txBox="1"/>
          <p:nvPr>
            <p:ph type="body" sz="quarter" idx="1" hasCustomPrompt="1"/>
          </p:nvPr>
        </p:nvSpPr>
        <p:spPr>
          <a:xfrm>
            <a:off x="698500" y="1412977"/>
            <a:ext cx="5105400" cy="671804"/>
          </a:xfrm>
          <a:prstGeom prst="rect">
            <a:avLst/>
          </a:prstGeom>
        </p:spPr>
        <p:txBody>
          <a:bodyPr/>
          <a:lstStyle>
            <a:lvl1pPr marL="0" indent="0" defTabSz="581151">
              <a:lnSpc>
                <a:spcPct val="100000"/>
              </a:lnSpc>
              <a:spcBef>
                <a:spcPts val="0"/>
              </a:spcBef>
              <a:buSzTx/>
              <a:buNone/>
              <a:defRPr b="1" sz="3700"/>
            </a:lvl1pPr>
            <a:lvl2pPr marL="850900" indent="-469900" defTabSz="581151">
              <a:lnSpc>
                <a:spcPct val="100000"/>
              </a:lnSpc>
              <a:spcBef>
                <a:spcPts val="0"/>
              </a:spcBef>
              <a:defRPr b="1" sz="3700"/>
            </a:lvl2pPr>
            <a:lvl3pPr marL="1231900" indent="-469900" defTabSz="581151">
              <a:lnSpc>
                <a:spcPct val="100000"/>
              </a:lnSpc>
              <a:spcBef>
                <a:spcPts val="0"/>
              </a:spcBef>
              <a:defRPr b="1" sz="3700"/>
            </a:lvl3pPr>
            <a:lvl4pPr marL="1612900" indent="-469900" defTabSz="581151">
              <a:lnSpc>
                <a:spcPct val="100000"/>
              </a:lnSpc>
              <a:spcBef>
                <a:spcPts val="0"/>
              </a:spcBef>
              <a:defRPr b="1" sz="3700"/>
            </a:lvl4pPr>
            <a:lvl5pPr marL="1993900" indent="-469900" defTabSz="581151">
              <a:lnSpc>
                <a:spcPct val="100000"/>
              </a:lnSpc>
              <a:spcBef>
                <a:spcPts val="0"/>
              </a:spcBef>
              <a:defRPr b="1" sz="3700"/>
            </a:lvl5pPr>
          </a:lstStyle>
          <a:p>
            <a:pPr/>
            <a:r>
              <a:t>Sottotitolo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" name="Corpo livello uno…"/>
          <p:cNvSpPr txBox="1"/>
          <p:nvPr>
            <p:ph type="body" sz="half" idx="22" hasCustomPrompt="1"/>
          </p:nvPr>
        </p:nvSpPr>
        <p:spPr>
          <a:xfrm>
            <a:off x="698500" y="3480196"/>
            <a:ext cx="5105400" cy="5593162"/>
          </a:xfrm>
          <a:prstGeom prst="rect">
            <a:avLst/>
          </a:prstGeom>
        </p:spPr>
        <p:txBody>
          <a:bodyPr/>
          <a:lstStyle/>
          <a:p>
            <a:pPr/>
            <a:r>
              <a:t>Testo elenco puntato diapositiva</a:t>
            </a:r>
          </a:p>
        </p:txBody>
      </p:sp>
      <p:sp>
        <p:nvSpPr>
          <p:cNvPr id="64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, elenco e diretta picco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olo"/>
          <p:cNvSpPr txBox="1"/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pPr/>
            <a:r>
              <a:t>Titolo</a:t>
            </a:r>
          </a:p>
        </p:txBody>
      </p:sp>
      <p:sp>
        <p:nvSpPr>
          <p:cNvPr id="72" name="Corpo livello uno…"/>
          <p:cNvSpPr txBox="1"/>
          <p:nvPr>
            <p:ph type="body" sz="quarter" idx="1" hasCustomPrompt="1"/>
          </p:nvPr>
        </p:nvSpPr>
        <p:spPr>
          <a:xfrm>
            <a:off x="698500" y="1412977"/>
            <a:ext cx="5105400" cy="671804"/>
          </a:xfrm>
          <a:prstGeom prst="rect">
            <a:avLst/>
          </a:prstGeom>
        </p:spPr>
        <p:txBody>
          <a:bodyPr/>
          <a:lstStyle>
            <a:lvl1pPr marL="0" indent="0" defTabSz="581151">
              <a:lnSpc>
                <a:spcPct val="100000"/>
              </a:lnSpc>
              <a:spcBef>
                <a:spcPts val="0"/>
              </a:spcBef>
              <a:buSzTx/>
              <a:buNone/>
              <a:defRPr b="1" sz="3700"/>
            </a:lvl1pPr>
            <a:lvl2pPr marL="850900" indent="-469900" defTabSz="581151">
              <a:lnSpc>
                <a:spcPct val="100000"/>
              </a:lnSpc>
              <a:spcBef>
                <a:spcPts val="0"/>
              </a:spcBef>
              <a:defRPr b="1" sz="3700"/>
            </a:lvl2pPr>
            <a:lvl3pPr marL="1231900" indent="-469900" defTabSz="581151">
              <a:lnSpc>
                <a:spcPct val="100000"/>
              </a:lnSpc>
              <a:spcBef>
                <a:spcPts val="0"/>
              </a:spcBef>
              <a:defRPr b="1" sz="3700"/>
            </a:lvl3pPr>
            <a:lvl4pPr marL="1612900" indent="-469900" defTabSz="581151">
              <a:lnSpc>
                <a:spcPct val="100000"/>
              </a:lnSpc>
              <a:spcBef>
                <a:spcPts val="0"/>
              </a:spcBef>
              <a:defRPr b="1" sz="3700"/>
            </a:lvl4pPr>
            <a:lvl5pPr marL="1993900" indent="-469900" defTabSz="581151">
              <a:lnSpc>
                <a:spcPct val="100000"/>
              </a:lnSpc>
              <a:spcBef>
                <a:spcPts val="0"/>
              </a:spcBef>
              <a:defRPr b="1" sz="3700"/>
            </a:lvl5pPr>
          </a:lstStyle>
          <a:p>
            <a:pPr/>
            <a:r>
              <a:t>Sottotitolo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Corpo livello uno…"/>
          <p:cNvSpPr txBox="1"/>
          <p:nvPr>
            <p:ph type="body" sz="half" idx="21" hasCustomPrompt="1"/>
          </p:nvPr>
        </p:nvSpPr>
        <p:spPr>
          <a:xfrm>
            <a:off x="698500" y="3480196"/>
            <a:ext cx="5105400" cy="5593162"/>
          </a:xfrm>
          <a:prstGeom prst="rect">
            <a:avLst/>
          </a:prstGeom>
        </p:spPr>
        <p:txBody>
          <a:bodyPr/>
          <a:lstStyle/>
          <a:p>
            <a:pPr/>
            <a:r>
              <a:t>Testo elenco puntato diapositiva</a:t>
            </a:r>
          </a:p>
        </p:txBody>
      </p:sp>
      <p:sp>
        <p:nvSpPr>
          <p:cNvPr id="74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, elenco e diretta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itolo"/>
          <p:cNvSpPr txBox="1"/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pPr/>
            <a:r>
              <a:t>Titolo</a:t>
            </a:r>
          </a:p>
        </p:txBody>
      </p:sp>
      <p:sp>
        <p:nvSpPr>
          <p:cNvPr id="82" name="Corpo livello uno…"/>
          <p:cNvSpPr txBox="1"/>
          <p:nvPr>
            <p:ph type="body" sz="quarter" idx="1" hasCustomPrompt="1"/>
          </p:nvPr>
        </p:nvSpPr>
        <p:spPr>
          <a:xfrm>
            <a:off x="698500" y="1412977"/>
            <a:ext cx="5105400" cy="671804"/>
          </a:xfrm>
          <a:prstGeom prst="rect">
            <a:avLst/>
          </a:prstGeom>
        </p:spPr>
        <p:txBody>
          <a:bodyPr/>
          <a:lstStyle>
            <a:lvl1pPr marL="0" indent="0" defTabSz="581151">
              <a:lnSpc>
                <a:spcPct val="100000"/>
              </a:lnSpc>
              <a:spcBef>
                <a:spcPts val="0"/>
              </a:spcBef>
              <a:buSzTx/>
              <a:buNone/>
              <a:defRPr b="1" sz="3700"/>
            </a:lvl1pPr>
            <a:lvl2pPr marL="850900" indent="-469900" defTabSz="581151">
              <a:lnSpc>
                <a:spcPct val="100000"/>
              </a:lnSpc>
              <a:spcBef>
                <a:spcPts val="0"/>
              </a:spcBef>
              <a:defRPr b="1" sz="3700"/>
            </a:lvl2pPr>
            <a:lvl3pPr marL="1231900" indent="-469900" defTabSz="581151">
              <a:lnSpc>
                <a:spcPct val="100000"/>
              </a:lnSpc>
              <a:spcBef>
                <a:spcPts val="0"/>
              </a:spcBef>
              <a:defRPr b="1" sz="3700"/>
            </a:lvl3pPr>
            <a:lvl4pPr marL="1612900" indent="-469900" defTabSz="581151">
              <a:lnSpc>
                <a:spcPct val="100000"/>
              </a:lnSpc>
              <a:spcBef>
                <a:spcPts val="0"/>
              </a:spcBef>
              <a:defRPr b="1" sz="3700"/>
            </a:lvl4pPr>
            <a:lvl5pPr marL="1993900" indent="-469900" defTabSz="581151">
              <a:lnSpc>
                <a:spcPct val="100000"/>
              </a:lnSpc>
              <a:spcBef>
                <a:spcPts val="0"/>
              </a:spcBef>
              <a:defRPr b="1" sz="3700"/>
            </a:lvl5pPr>
          </a:lstStyle>
          <a:p>
            <a:pPr/>
            <a:r>
              <a:t>Sottotitolo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Corpo livello uno…"/>
          <p:cNvSpPr txBox="1"/>
          <p:nvPr>
            <p:ph type="body" sz="half" idx="21" hasCustomPrompt="1"/>
          </p:nvPr>
        </p:nvSpPr>
        <p:spPr>
          <a:xfrm>
            <a:off x="698500" y="3480196"/>
            <a:ext cx="5105400" cy="5593162"/>
          </a:xfrm>
          <a:prstGeom prst="rect">
            <a:avLst/>
          </a:prstGeom>
        </p:spPr>
        <p:txBody>
          <a:bodyPr/>
          <a:lstStyle/>
          <a:p>
            <a:pPr/>
            <a:r>
              <a:t>Testo elenco puntato diapositiva</a:t>
            </a:r>
          </a:p>
        </p:txBody>
      </p:sp>
      <p:sp>
        <p:nvSpPr>
          <p:cNvPr id="84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olo sezione"/>
          <p:cNvSpPr txBox="1"/>
          <p:nvPr>
            <p:ph type="title" hasCustomPrompt="1"/>
          </p:nvPr>
        </p:nvSpPr>
        <p:spPr>
          <a:xfrm>
            <a:off x="698500" y="3225800"/>
            <a:ext cx="11607800" cy="3302000"/>
          </a:xfrm>
          <a:prstGeom prst="rect">
            <a:avLst/>
          </a:prstGeom>
        </p:spPr>
        <p:txBody>
          <a:bodyPr anchor="ctr"/>
          <a:lstStyle>
            <a:lvl1pPr>
              <a:defRPr b="0"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Titolo sezione</a:t>
            </a:r>
          </a:p>
        </p:txBody>
      </p:sp>
      <p:sp>
        <p:nvSpPr>
          <p:cNvPr id="92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itolo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Titolo</a:t>
            </a:r>
          </a:p>
        </p:txBody>
      </p:sp>
      <p:sp>
        <p:nvSpPr>
          <p:cNvPr id="100" name="Corpo livello uno…"/>
          <p:cNvSpPr txBox="1"/>
          <p:nvPr>
            <p:ph type="body" sz="quarter" idx="1" hasCustomPrompt="1"/>
          </p:nvPr>
        </p:nvSpPr>
        <p:spPr>
          <a:xfrm>
            <a:off x="698500" y="1412977"/>
            <a:ext cx="11607801" cy="671804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  <a:lvl2pPr marL="863600" indent="-482600" defTabSz="587022">
              <a:lnSpc>
                <a:spcPct val="100000"/>
              </a:lnSpc>
              <a:spcBef>
                <a:spcPts val="0"/>
              </a:spcBef>
              <a:defRPr b="1" sz="3800"/>
            </a:lvl2pPr>
            <a:lvl3pPr marL="1244600" indent="-482600" defTabSz="587022">
              <a:lnSpc>
                <a:spcPct val="100000"/>
              </a:lnSpc>
              <a:spcBef>
                <a:spcPts val="0"/>
              </a:spcBef>
              <a:defRPr b="1" sz="3800"/>
            </a:lvl3pPr>
            <a:lvl4pPr marL="1625600" indent="-482600" defTabSz="587022">
              <a:lnSpc>
                <a:spcPct val="100000"/>
              </a:lnSpc>
              <a:spcBef>
                <a:spcPts val="0"/>
              </a:spcBef>
              <a:defRPr b="1" sz="3800"/>
            </a:lvl4pPr>
            <a:lvl5pPr marL="2006600" indent="-482600" defTabSz="587022">
              <a:lnSpc>
                <a:spcPct val="100000"/>
              </a:lnSpc>
              <a:spcBef>
                <a:spcPts val="0"/>
              </a:spcBef>
              <a:defRPr b="1" sz="3800"/>
            </a:lvl5pPr>
          </a:lstStyle>
          <a:p>
            <a:pPr/>
            <a:r>
              <a:t>Sottotitolo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1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rogram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olo programma"/>
          <p:cNvSpPr txBox="1"/>
          <p:nvPr>
            <p:ph type="title" hasCustomPrompt="1"/>
          </p:nvPr>
        </p:nvSpPr>
        <p:spPr>
          <a:xfrm>
            <a:off x="698500" y="444500"/>
            <a:ext cx="11607800" cy="1016000"/>
          </a:xfrm>
          <a:prstGeom prst="rect">
            <a:avLst/>
          </a:prstGeom>
        </p:spPr>
        <p:txBody>
          <a:bodyPr/>
          <a:lstStyle/>
          <a:p>
            <a:pPr/>
            <a:r>
              <a:t>Titolo programma</a:t>
            </a:r>
          </a:p>
        </p:txBody>
      </p:sp>
      <p:sp>
        <p:nvSpPr>
          <p:cNvPr id="109" name="Corpo livello uno…"/>
          <p:cNvSpPr txBox="1"/>
          <p:nvPr>
            <p:ph type="body" sz="quarter" idx="1" hasCustomPrompt="1"/>
          </p:nvPr>
        </p:nvSpPr>
        <p:spPr>
          <a:xfrm>
            <a:off x="698500" y="1409700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  <a:lvl2pPr marL="863600" indent="-482600" defTabSz="587022">
              <a:lnSpc>
                <a:spcPct val="100000"/>
              </a:lnSpc>
              <a:spcBef>
                <a:spcPts val="0"/>
              </a:spcBef>
              <a:defRPr b="1" sz="3800"/>
            </a:lvl2pPr>
            <a:lvl3pPr marL="1244600" indent="-482600" defTabSz="587022">
              <a:lnSpc>
                <a:spcPct val="100000"/>
              </a:lnSpc>
              <a:spcBef>
                <a:spcPts val="0"/>
              </a:spcBef>
              <a:defRPr b="1" sz="3800"/>
            </a:lvl3pPr>
            <a:lvl4pPr marL="1625600" indent="-482600" defTabSz="587022">
              <a:lnSpc>
                <a:spcPct val="100000"/>
              </a:lnSpc>
              <a:spcBef>
                <a:spcPts val="0"/>
              </a:spcBef>
              <a:defRPr b="1" sz="3800"/>
            </a:lvl4pPr>
            <a:lvl5pPr marL="2006600" indent="-482600" defTabSz="587022">
              <a:lnSpc>
                <a:spcPct val="100000"/>
              </a:lnSpc>
              <a:spcBef>
                <a:spcPts val="0"/>
              </a:spcBef>
              <a:defRPr b="1" sz="3800"/>
            </a:lvl5pPr>
          </a:lstStyle>
          <a:p>
            <a:pPr/>
            <a:r>
              <a:t>Sottotitolo programma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Corpo livello uno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1300"/>
              </a:spcBef>
              <a:buSzTx/>
              <a:buNone/>
              <a:defRPr spc="-100" sz="3800"/>
            </a:lvl1pPr>
          </a:lstStyle>
          <a:p>
            <a:pPr/>
            <a:r>
              <a:t>Argomenti del programma</a:t>
            </a:r>
          </a:p>
        </p:txBody>
      </p:sp>
      <p:sp>
        <p:nvSpPr>
          <p:cNvPr id="111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ichiar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Corpo livello uno…"/>
          <p:cNvSpPr txBox="1"/>
          <p:nvPr>
            <p:ph type="body" sz="half" idx="1" hasCustomPrompt="1"/>
          </p:nvPr>
        </p:nvSpPr>
        <p:spPr>
          <a:xfrm>
            <a:off x="698500" y="3568700"/>
            <a:ext cx="11607800" cy="2617789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Dichiarazione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Informazione import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orpo livello uno…"/>
          <p:cNvSpPr txBox="1"/>
          <p:nvPr>
            <p:ph type="body" sz="quarter" idx="1" hasCustomPrompt="1"/>
          </p:nvPr>
        </p:nvSpPr>
        <p:spPr>
          <a:xfrm>
            <a:off x="698500" y="6209979"/>
            <a:ext cx="11607800" cy="67180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  <a:lvl2pPr marL="863600" indent="-482600" algn="ctr">
              <a:lnSpc>
                <a:spcPct val="100000"/>
              </a:lnSpc>
              <a:spcBef>
                <a:spcPts val="0"/>
              </a:spcBef>
              <a:defRPr b="1" sz="3800"/>
            </a:lvl2pPr>
            <a:lvl3pPr marL="1244600" indent="-482600" algn="ctr">
              <a:lnSpc>
                <a:spcPct val="100000"/>
              </a:lnSpc>
              <a:spcBef>
                <a:spcPts val="0"/>
              </a:spcBef>
              <a:defRPr b="1" sz="3800"/>
            </a:lvl3pPr>
            <a:lvl4pPr marL="1625600" indent="-482600" algn="ctr">
              <a:lnSpc>
                <a:spcPct val="100000"/>
              </a:lnSpc>
              <a:spcBef>
                <a:spcPts val="0"/>
              </a:spcBef>
              <a:defRPr b="1" sz="3800"/>
            </a:lvl4pPr>
            <a:lvl5pPr marL="2006600" indent="-482600" algn="ctr">
              <a:lnSpc>
                <a:spcPct val="100000"/>
              </a:lnSpc>
              <a:spcBef>
                <a:spcPts val="0"/>
              </a:spcBef>
              <a:defRPr b="1" sz="3800"/>
            </a:lvl5pPr>
          </a:lstStyle>
          <a:p>
            <a:pPr/>
            <a:r>
              <a:t>Dettagli informazione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Corpo livello uno…"/>
          <p:cNvSpPr txBox="1"/>
          <p:nvPr>
            <p:ph type="body" idx="21" hasCustomPrompt="1"/>
          </p:nvPr>
        </p:nvSpPr>
        <p:spPr>
          <a:xfrm>
            <a:off x="698500" y="999065"/>
            <a:ext cx="11607800" cy="5210916"/>
          </a:xfrm>
          <a:prstGeom prst="rect">
            <a:avLst/>
          </a:prstGeom>
        </p:spPr>
        <p:txBody>
          <a:bodyPr anchor="b"/>
          <a:lstStyle/>
          <a:p>
            <a:pPr lvl="4" marL="0" indent="1207008" algn="ctr" defTabSz="762929">
              <a:lnSpc>
                <a:spcPct val="80000"/>
              </a:lnSpc>
              <a:spcBef>
                <a:spcPts val="0"/>
              </a:spcBef>
              <a:buSzTx/>
              <a:buNone/>
              <a:defRPr b="1" spc="-77" sz="7744"/>
            </a:pPr>
            <a:r>
              <a:t>100%
</a:t>
            </a:r>
          </a:p>
        </p:txBody>
      </p:sp>
      <p:sp>
        <p:nvSpPr>
          <p:cNvPr id="128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Corpo livello uno…"/>
          <p:cNvSpPr txBox="1"/>
          <p:nvPr>
            <p:ph type="body" sz="half" idx="1" hasCustomPrompt="1"/>
          </p:nvPr>
        </p:nvSpPr>
        <p:spPr>
          <a:xfrm>
            <a:off x="736600" y="3721100"/>
            <a:ext cx="11531600" cy="2324100"/>
          </a:xfrm>
          <a:prstGeom prst="rect">
            <a:avLst/>
          </a:prstGeom>
        </p:spPr>
        <p:txBody>
          <a:bodyPr anchor="ctr"/>
          <a:lstStyle>
            <a:lvl1pPr marL="342900" indent="-228600">
              <a:spcBef>
                <a:spcPts val="0"/>
              </a:spcBef>
              <a:buSzTx/>
              <a:buNone/>
              <a:defRPr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342900" indent="114300">
              <a:spcBef>
                <a:spcPts val="0"/>
              </a:spcBef>
              <a:buSzTx/>
              <a:buNone/>
              <a:defRPr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342900" indent="114300">
              <a:spcBef>
                <a:spcPts val="0"/>
              </a:spcBef>
              <a:buSzTx/>
              <a:buNone/>
              <a:defRPr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342900" indent="114300">
              <a:spcBef>
                <a:spcPts val="0"/>
              </a:spcBef>
              <a:buSzTx/>
              <a:buNone/>
              <a:defRPr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342900" indent="114300">
              <a:spcBef>
                <a:spcPts val="0"/>
              </a:spcBef>
              <a:buSzTx/>
              <a:buNone/>
              <a:defRPr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“Citazione degna di nota”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Attribuzione"/>
          <p:cNvSpPr txBox="1"/>
          <p:nvPr>
            <p:ph type="body" sz="quarter" idx="21" hasCustomPrompt="1"/>
          </p:nvPr>
        </p:nvSpPr>
        <p:spPr>
          <a:xfrm>
            <a:off x="1219200" y="6426199"/>
            <a:ext cx="11049000" cy="461061"/>
          </a:xfrm>
          <a:prstGeom prst="rect">
            <a:avLst/>
          </a:prstGeom>
        </p:spPr>
        <p:txBody>
          <a:bodyPr/>
          <a:lstStyle>
            <a:lvl1pPr marL="0" indent="0" defTabSz="563540">
              <a:lnSpc>
                <a:spcPct val="100000"/>
              </a:lnSpc>
              <a:spcBef>
                <a:spcPts val="0"/>
              </a:spcBef>
              <a:buSzTx/>
              <a:buNone/>
              <a:defRPr b="1" sz="2300"/>
            </a:lvl1pPr>
          </a:lstStyle>
          <a:p>
            <a:pPr/>
            <a:r>
              <a:t>Attribuzione</a:t>
            </a:r>
          </a:p>
        </p:txBody>
      </p:sp>
      <p:sp>
        <p:nvSpPr>
          <p:cNvPr id="137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 - 3 per pa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appardelle con burro al prezzemolo, nocciole tostate e scaglie di parmigiano"/>
          <p:cNvSpPr/>
          <p:nvPr>
            <p:ph type="pic" idx="21"/>
          </p:nvPr>
        </p:nvSpPr>
        <p:spPr>
          <a:xfrm>
            <a:off x="-2082800" y="687557"/>
            <a:ext cx="11165190" cy="837389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Ciotola di insalata con riso saltato, uova sode e bacchette"/>
          <p:cNvSpPr/>
          <p:nvPr>
            <p:ph type="pic" sz="half" idx="22"/>
          </p:nvPr>
        </p:nvSpPr>
        <p:spPr>
          <a:xfrm>
            <a:off x="6597650" y="292100"/>
            <a:ext cx="5740400" cy="459232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Ciotola con frittelle al salmone, insalata e hummus"/>
          <p:cNvSpPr/>
          <p:nvPr>
            <p:ph type="pic" idx="23"/>
          </p:nvPr>
        </p:nvSpPr>
        <p:spPr>
          <a:xfrm>
            <a:off x="4984750" y="2749412"/>
            <a:ext cx="7937500" cy="923827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Ciotola di insalata con riso saltato, uova sode e bacchette"/>
          <p:cNvSpPr/>
          <p:nvPr>
            <p:ph type="pic" idx="21"/>
          </p:nvPr>
        </p:nvSpPr>
        <p:spPr>
          <a:xfrm>
            <a:off x="-1016000" y="-1054100"/>
            <a:ext cx="14427200" cy="1154176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Numero diapositiva"/>
          <p:cNvSpPr txBox="1"/>
          <p:nvPr>
            <p:ph type="sldNum" sz="quarter" idx="2"/>
          </p:nvPr>
        </p:nvSpPr>
        <p:spPr>
          <a:xfrm>
            <a:off x="6353454" y="9220200"/>
            <a:ext cx="297892" cy="287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po livello uno…"/>
          <p:cNvSpPr txBox="1"/>
          <p:nvPr>
            <p:ph type="body" idx="1" hasCustomPrompt="1"/>
          </p:nvPr>
        </p:nvSpPr>
        <p:spPr>
          <a:xfrm>
            <a:off x="698500" y="2959100"/>
            <a:ext cx="11607800" cy="609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Testo elenco puntato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Titolo"/>
          <p:cNvSpPr txBox="1"/>
          <p:nvPr>
            <p:ph type="title" hasCustomPrompt="1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Titolo</a:t>
            </a:r>
          </a:p>
        </p:txBody>
      </p:sp>
      <p:sp>
        <p:nvSpPr>
          <p:cNvPr id="4" name="Numero diapositiva"/>
          <p:cNvSpPr txBox="1"/>
          <p:nvPr>
            <p:ph type="sldNum" sz="quarter" idx="2"/>
          </p:nvPr>
        </p:nvSpPr>
        <p:spPr>
          <a:xfrm>
            <a:off x="6350067" y="9220200"/>
            <a:ext cx="297892" cy="28747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3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0" marR="0" indent="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0" marR="0" indent="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0" marR="0" indent="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0" marR="0" indent="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0" marR="0" indent="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0" marR="0" indent="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0" marR="0" indent="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0" marR="0" indent="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titleStyle>
    <p:bodyStyle>
      <a:lvl1pPr marL="381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762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1143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1524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1905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2286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2667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3048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3429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tif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tif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tif"/><Relationship Id="rId3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1.tif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tif"/><Relationship Id="rId3" Type="http://schemas.openxmlformats.org/officeDocument/2006/relationships/image" Target="../media/image7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tif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1.tif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image" Target="../media/image1.tif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image" Target="../media/image1.tif"/><Relationship Id="rId4" Type="http://schemas.openxmlformats.org/officeDocument/2006/relationships/image" Target="../media/image1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3" Type="http://schemas.openxmlformats.org/officeDocument/2006/relationships/image" Target="../media/image1.tif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3" Type="http://schemas.openxmlformats.org/officeDocument/2006/relationships/image" Target="../media/image1.tif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3" Type="http://schemas.openxmlformats.org/officeDocument/2006/relationships/image" Target="../media/image1.tif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tif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tif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tif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tif"/><Relationship Id="rId3" Type="http://schemas.openxmlformats.org/officeDocument/2006/relationships/hyperlink" Target="https://doi.org/10.1038/s41597-026-06662-0" TargetMode="External"/><Relationship Id="rId4" Type="http://schemas.openxmlformats.org/officeDocument/2006/relationships/hyperlink" Target="https://doi.org/10.5334/jopd.ak" TargetMode="External"/><Relationship Id="rId5" Type="http://schemas.openxmlformats.org/officeDocument/2006/relationships/hyperlink" Target="https://data.mendeley.com/datasets/2pw2m39yct/2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riele Babini, Federico Bottaro, Nicholas Maria Como"/>
          <p:cNvSpPr txBox="1"/>
          <p:nvPr>
            <p:ph type="body" sz="quarter" idx="1"/>
          </p:nvPr>
        </p:nvSpPr>
        <p:spPr>
          <a:xfrm>
            <a:off x="698499" y="8657487"/>
            <a:ext cx="11607803" cy="461061"/>
          </a:xfrm>
          <a:prstGeom prst="rect">
            <a:avLst/>
          </a:prstGeom>
        </p:spPr>
        <p:txBody>
          <a:bodyPr/>
          <a:lstStyle/>
          <a:p>
            <a:pPr/>
            <a:r>
              <a:t>Ariele Babini, Federico Bottaro, Nicholas Maria Como</a:t>
            </a:r>
          </a:p>
        </p:txBody>
      </p:sp>
      <p:sp>
        <p:nvSpPr>
          <p:cNvPr id="172" name="EEG &amp; Iowa Gambling Task: pipeline EEG-ML per la classificazione delle decisioni"/>
          <p:cNvSpPr txBox="1"/>
          <p:nvPr>
            <p:ph type="title"/>
          </p:nvPr>
        </p:nvSpPr>
        <p:spPr>
          <a:xfrm>
            <a:off x="698499" y="1854200"/>
            <a:ext cx="11609059" cy="3302000"/>
          </a:xfrm>
          <a:prstGeom prst="rect">
            <a:avLst/>
          </a:prstGeom>
        </p:spPr>
        <p:txBody>
          <a:bodyPr/>
          <a:lstStyle/>
          <a:p>
            <a:pPr defTabSz="1404482">
              <a:defRPr spc="-200" sz="6600"/>
            </a:pPr>
            <a:r>
              <a:t>EEG &amp; Iowa Gambling Task: pipeline EEG-ML per la classificazione delle decisioni</a:t>
            </a:r>
            <a:r>
              <a:rPr spc="-100" sz="900"/>
              <a:t> </a:t>
            </a:r>
          </a:p>
        </p:txBody>
      </p:sp>
      <p:sp>
        <p:nvSpPr>
          <p:cNvPr id="173" name="Università degli Studi dell’Insubria…"/>
          <p:cNvSpPr txBox="1"/>
          <p:nvPr/>
        </p:nvSpPr>
        <p:spPr>
          <a:xfrm>
            <a:off x="698500" y="5232400"/>
            <a:ext cx="11607800" cy="1456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 b="1" sz="3400"/>
            </a:pPr>
            <a:r>
              <a:t>Università degli Studi dell’Insubria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b="1" sz="3400"/>
            </a:pPr>
            <a:r>
              <a:t>Laurea Triennale Informatica, a.a. 2025/2026</a:t>
            </a:r>
          </a:p>
        </p:txBody>
      </p:sp>
      <p:pic>
        <p:nvPicPr>
          <p:cNvPr id="174" name="Immagine" descr="Immagin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347646" y="8122608"/>
            <a:ext cx="1461405" cy="1456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viluppare un'infrastruttura di Machine Learning in grado di analizzare, trial-by-trial, l'attività cerebrale precedente a una scelta economica nell'Iowa Gambling Task…"/>
          <p:cNvSpPr txBox="1"/>
          <p:nvPr>
            <p:ph type="body" idx="1"/>
          </p:nvPr>
        </p:nvSpPr>
        <p:spPr>
          <a:xfrm>
            <a:off x="698500" y="1652521"/>
            <a:ext cx="11607800" cy="7665868"/>
          </a:xfrm>
          <a:prstGeom prst="rect">
            <a:avLst/>
          </a:prstGeom>
        </p:spPr>
        <p:txBody>
          <a:bodyPr/>
          <a:lstStyle/>
          <a:p>
            <a:pPr/>
            <a:r>
              <a:t>Sviluppare un'infrastruttura di Machine Learning in grado di analizzare, trial-by-trial, l'attività cerebrale precedente a una scelta economica nell'Iowa Gambling Task</a:t>
            </a:r>
          </a:p>
          <a:p>
            <a:pPr/>
            <a:r>
              <a:t>Passare dalla statistica descrittiva della letteratura scientifica a un modello predittivo </a:t>
            </a:r>
            <a:r>
              <a:rPr i="1"/>
              <a:t>subject-independent</a:t>
            </a:r>
            <a:r>
              <a:t>.</a:t>
            </a:r>
          </a:p>
        </p:txBody>
      </p:sp>
      <p:sp>
        <p:nvSpPr>
          <p:cNvPr id="177" name="Obiettivo"/>
          <p:cNvSpPr txBox="1"/>
          <p:nvPr>
            <p:ph type="title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</p:spPr>
        <p:txBody>
          <a:bodyPr/>
          <a:lstStyle>
            <a:lvl1pPr defTabSz="1716589">
              <a:defRPr spc="-200" sz="5900"/>
            </a:lvl1pPr>
          </a:lstStyle>
          <a:p>
            <a:pPr/>
            <a:r>
              <a:t>Obiettivo</a:t>
            </a:r>
          </a:p>
        </p:txBody>
      </p:sp>
      <p:pic>
        <p:nvPicPr>
          <p:cNvPr id="178" name="Immagine" descr="Immagin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347646" y="8122608"/>
            <a:ext cx="1461405" cy="1456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Dataset pubblico di Chávez-Sánchez et al. (2026) pubblicato su Scientific Data.…"/>
          <p:cNvSpPr txBox="1"/>
          <p:nvPr>
            <p:ph type="body" sz="half" idx="1"/>
          </p:nvPr>
        </p:nvSpPr>
        <p:spPr>
          <a:xfrm>
            <a:off x="618301" y="5067036"/>
            <a:ext cx="11975873" cy="3895922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2000"/>
              </a:spcBef>
            </a:pPr>
            <a:r>
              <a:t>Dataset pubblico di Chávez-Sánchez et al. (2026) pubblicato su </a:t>
            </a:r>
            <a:r>
              <a:rPr i="1"/>
              <a:t>Scientific Data</a:t>
            </a:r>
            <a:r>
              <a:t>. </a:t>
            </a:r>
          </a:p>
          <a:p>
            <a:pPr lvl="1">
              <a:spcBef>
                <a:spcPts val="2000"/>
              </a:spcBef>
            </a:pPr>
            <a:r>
              <a:t>59 partecipanti sani</a:t>
            </a:r>
          </a:p>
          <a:p>
            <a:pPr lvl="1">
              <a:spcBef>
                <a:spcPts val="2000"/>
              </a:spcBef>
            </a:pPr>
            <a:r>
              <a:t>21 canali EEG (sistema 10-20)</a:t>
            </a:r>
          </a:p>
          <a:p>
            <a:pPr lvl="1">
              <a:spcBef>
                <a:spcPts val="2000"/>
              </a:spcBef>
            </a:pPr>
            <a:r>
              <a:t>200 decisioni per soggetto</a:t>
            </a:r>
          </a:p>
          <a:p>
            <a:pPr lvl="1">
              <a:spcBef>
                <a:spcPts val="2000"/>
              </a:spcBef>
            </a:pPr>
            <a:r>
              <a:t>dati comportamentali sincronizzati</a:t>
            </a:r>
          </a:p>
        </p:txBody>
      </p:sp>
      <p:sp>
        <p:nvSpPr>
          <p:cNvPr id="181" name="Iowa Gambling Task e Dataset"/>
          <p:cNvSpPr txBox="1"/>
          <p:nvPr>
            <p:ph type="title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</p:spPr>
        <p:txBody>
          <a:bodyPr/>
          <a:lstStyle>
            <a:lvl1pPr defTabSz="1716589">
              <a:defRPr spc="-200" sz="5900"/>
            </a:lvl1pPr>
          </a:lstStyle>
          <a:p>
            <a:pPr/>
            <a:r>
              <a:t>Iowa Gambling Task e Dataset</a:t>
            </a:r>
          </a:p>
        </p:txBody>
      </p:sp>
      <p:pic>
        <p:nvPicPr>
          <p:cNvPr id="182" name="Immagine" descr="Immagin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347646" y="8122608"/>
            <a:ext cx="1461405" cy="1456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3" name="filmato-incollato.png" descr="filmato-incollato.png"/>
          <p:cNvPicPr>
            <a:picLocks noChangeAspect="1"/>
          </p:cNvPicPr>
          <p:nvPr/>
        </p:nvPicPr>
        <p:blipFill>
          <a:blip r:embed="rId3">
            <a:extLst/>
          </a:blip>
          <a:srcRect l="0" t="1909" r="0" b="0"/>
          <a:stretch>
            <a:fillRect/>
          </a:stretch>
        </p:blipFill>
        <p:spPr>
          <a:xfrm>
            <a:off x="1034438" y="2544155"/>
            <a:ext cx="11143599" cy="1955695"/>
          </a:xfrm>
          <a:prstGeom prst="rect">
            <a:avLst/>
          </a:prstGeom>
          <a:ln w="12700">
            <a:miter lim="400000"/>
          </a:ln>
        </p:spPr>
      </p:pic>
      <p:sp>
        <p:nvSpPr>
          <p:cNvPr id="184" name="Iowa Gambling Task (IGT)"/>
          <p:cNvSpPr txBox="1"/>
          <p:nvPr/>
        </p:nvSpPr>
        <p:spPr>
          <a:xfrm>
            <a:off x="703515" y="1729377"/>
            <a:ext cx="4841368" cy="548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L="381000" indent="-381000">
              <a:spcBef>
                <a:spcPts val="2000"/>
              </a:spcBef>
              <a:buSzPct val="123000"/>
              <a:buChar char="•"/>
            </a:lvl1pPr>
          </a:lstStyle>
          <a:p>
            <a:pPr/>
            <a:r>
              <a:t>Iowa Gambling Task (IGT)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ipeline metodologica"/>
          <p:cNvSpPr txBox="1"/>
          <p:nvPr>
            <p:ph type="title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</p:spPr>
        <p:txBody>
          <a:bodyPr/>
          <a:lstStyle>
            <a:lvl1pPr defTabSz="1716589">
              <a:defRPr spc="-200" sz="5900"/>
            </a:lvl1pPr>
          </a:lstStyle>
          <a:p>
            <a:pPr/>
            <a:r>
              <a:t>Pipeline metodologica</a:t>
            </a:r>
          </a:p>
        </p:txBody>
      </p:sp>
      <p:sp>
        <p:nvSpPr>
          <p:cNvPr id="187" name="Rettangolo arrotondato"/>
          <p:cNvSpPr/>
          <p:nvPr/>
        </p:nvSpPr>
        <p:spPr>
          <a:xfrm>
            <a:off x="1799283" y="1958270"/>
            <a:ext cx="8728634" cy="1238204"/>
          </a:xfrm>
          <a:prstGeom prst="roundRect">
            <a:avLst>
              <a:gd name="adj" fmla="val 41624"/>
            </a:avLst>
          </a:prstGeom>
          <a:ln w="38100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88" name="Rettangolo arrotondato"/>
          <p:cNvSpPr/>
          <p:nvPr/>
        </p:nvSpPr>
        <p:spPr>
          <a:xfrm>
            <a:off x="2208837" y="3392516"/>
            <a:ext cx="8847165" cy="1231902"/>
          </a:xfrm>
          <a:prstGeom prst="roundRect">
            <a:avLst>
              <a:gd name="adj" fmla="val 42091"/>
            </a:avLst>
          </a:prstGeom>
          <a:ln w="38100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89" name="Sincronizzazione ed Epoching"/>
          <p:cNvSpPr txBox="1"/>
          <p:nvPr/>
        </p:nvSpPr>
        <p:spPr>
          <a:xfrm>
            <a:off x="3536193" y="3715911"/>
            <a:ext cx="5963854" cy="585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587022">
              <a:lnSpc>
                <a:spcPct val="100000"/>
              </a:lnSpc>
              <a:spcBef>
                <a:spcPts val="0"/>
              </a:spcBef>
              <a:defRPr b="1" sz="3200"/>
            </a:lvl1pPr>
          </a:lstStyle>
          <a:p>
            <a:pPr/>
            <a:r>
              <a:t>Sincronizzazione ed Epoching</a:t>
            </a:r>
          </a:p>
        </p:txBody>
      </p:sp>
      <p:pic>
        <p:nvPicPr>
          <p:cNvPr id="190" name="filter.png" descr="filte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31312" y="2188356"/>
            <a:ext cx="812802" cy="8128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91" name="syncronize.png" descr="syncroniz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500132" y="3614766"/>
            <a:ext cx="812802" cy="812802"/>
          </a:xfrm>
          <a:prstGeom prst="rect">
            <a:avLst/>
          </a:prstGeom>
          <a:ln w="12700">
            <a:miter lim="400000"/>
          </a:ln>
        </p:spPr>
      </p:pic>
      <p:sp>
        <p:nvSpPr>
          <p:cNvPr id="192" name="Preprocessing del segnale grezzo"/>
          <p:cNvSpPr txBox="1"/>
          <p:nvPr/>
        </p:nvSpPr>
        <p:spPr>
          <a:xfrm>
            <a:off x="3019031" y="2289500"/>
            <a:ext cx="6712806" cy="5851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587022">
              <a:lnSpc>
                <a:spcPct val="100000"/>
              </a:lnSpc>
              <a:spcBef>
                <a:spcPts val="0"/>
              </a:spcBef>
              <a:defRPr b="1" sz="3200"/>
            </a:lvl1pPr>
          </a:lstStyle>
          <a:p>
            <a:pPr/>
            <a:r>
              <a:t>Preprocessing del segnale grezzo</a:t>
            </a:r>
          </a:p>
        </p:txBody>
      </p:sp>
      <p:sp>
        <p:nvSpPr>
          <p:cNvPr id="193" name="Rettangolo arrotondato"/>
          <p:cNvSpPr/>
          <p:nvPr/>
        </p:nvSpPr>
        <p:spPr>
          <a:xfrm>
            <a:off x="2344303" y="4820460"/>
            <a:ext cx="8937414" cy="1231901"/>
          </a:xfrm>
          <a:prstGeom prst="roundRect">
            <a:avLst>
              <a:gd name="adj" fmla="val 42091"/>
            </a:avLst>
          </a:prstGeom>
          <a:ln w="38100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4" name="Estrazione Feature PSD"/>
          <p:cNvSpPr txBox="1"/>
          <p:nvPr/>
        </p:nvSpPr>
        <p:spPr>
          <a:xfrm>
            <a:off x="3671659" y="5143855"/>
            <a:ext cx="5963854" cy="585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587022">
              <a:lnSpc>
                <a:spcPct val="100000"/>
              </a:lnSpc>
              <a:spcBef>
                <a:spcPts val="0"/>
              </a:spcBef>
              <a:defRPr b="1" sz="3200"/>
            </a:lvl1pPr>
          </a:lstStyle>
          <a:p>
            <a:pPr/>
            <a:r>
              <a:t>Estrazione Feature PSD</a:t>
            </a:r>
          </a:p>
        </p:txBody>
      </p:sp>
      <p:pic>
        <p:nvPicPr>
          <p:cNvPr id="195" name="data-filtering.png" descr="data-filtering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576332" y="5041177"/>
            <a:ext cx="812802" cy="812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6" name="syncronize.png" descr="syncroniz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481082" y="3595716"/>
            <a:ext cx="850902" cy="8509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97" name="data-filtering.png" descr="data-filtering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569982" y="5041177"/>
            <a:ext cx="825502" cy="825502"/>
          </a:xfrm>
          <a:prstGeom prst="rect">
            <a:avLst/>
          </a:prstGeom>
          <a:ln w="12700">
            <a:miter lim="400000"/>
          </a:ln>
        </p:spPr>
      </p:pic>
      <p:sp>
        <p:nvSpPr>
          <p:cNvPr id="198" name="Rettangolo arrotondato"/>
          <p:cNvSpPr/>
          <p:nvPr/>
        </p:nvSpPr>
        <p:spPr>
          <a:xfrm>
            <a:off x="2213069" y="6248403"/>
            <a:ext cx="8881035" cy="1231902"/>
          </a:xfrm>
          <a:prstGeom prst="roundRect">
            <a:avLst>
              <a:gd name="adj" fmla="val 42091"/>
            </a:avLst>
          </a:prstGeom>
          <a:ln w="38100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9" name="Classificazione Multimodello"/>
          <p:cNvSpPr txBox="1"/>
          <p:nvPr/>
        </p:nvSpPr>
        <p:spPr>
          <a:xfrm>
            <a:off x="3540426" y="6571798"/>
            <a:ext cx="5963854" cy="585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587022">
              <a:lnSpc>
                <a:spcPct val="100000"/>
              </a:lnSpc>
              <a:spcBef>
                <a:spcPts val="0"/>
              </a:spcBef>
              <a:defRPr b="1" sz="3200"/>
            </a:lvl1pPr>
          </a:lstStyle>
          <a:p>
            <a:pPr/>
            <a:r>
              <a:t>Classificazione Multimodello</a:t>
            </a:r>
          </a:p>
        </p:txBody>
      </p:sp>
      <p:sp>
        <p:nvSpPr>
          <p:cNvPr id="200" name="Rettangolo arrotondato"/>
          <p:cNvSpPr/>
          <p:nvPr/>
        </p:nvSpPr>
        <p:spPr>
          <a:xfrm>
            <a:off x="1816217" y="7676347"/>
            <a:ext cx="8785446" cy="1231902"/>
          </a:xfrm>
          <a:prstGeom prst="roundRect">
            <a:avLst>
              <a:gd name="adj" fmla="val 42091"/>
            </a:avLst>
          </a:prstGeom>
          <a:ln w="38100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01" name="Validazione LOSO"/>
          <p:cNvSpPr txBox="1"/>
          <p:nvPr/>
        </p:nvSpPr>
        <p:spPr>
          <a:xfrm>
            <a:off x="3143573" y="7999741"/>
            <a:ext cx="5963854" cy="5851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587022">
              <a:lnSpc>
                <a:spcPct val="100000"/>
              </a:lnSpc>
              <a:spcBef>
                <a:spcPts val="0"/>
              </a:spcBef>
              <a:defRPr b="1" sz="3200"/>
            </a:lvl1pPr>
          </a:lstStyle>
          <a:p>
            <a:pPr/>
            <a:r>
              <a:t>Validazione LOSO</a:t>
            </a:r>
          </a:p>
        </p:txBody>
      </p:sp>
      <p:pic>
        <p:nvPicPr>
          <p:cNvPr id="202" name="classification.png" descr="classification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415464" y="6356353"/>
            <a:ext cx="990602" cy="990602"/>
          </a:xfrm>
          <a:prstGeom prst="rect">
            <a:avLst/>
          </a:prstGeom>
          <a:ln w="12700">
            <a:miter lim="400000"/>
          </a:ln>
        </p:spPr>
      </p:pic>
      <p:pic>
        <p:nvPicPr>
          <p:cNvPr id="203" name="shield.png" descr="shield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993212" y="7860497"/>
            <a:ext cx="863602" cy="863602"/>
          </a:xfrm>
          <a:prstGeom prst="rect">
            <a:avLst/>
          </a:prstGeom>
          <a:ln w="12700">
            <a:miter lim="400000"/>
          </a:ln>
        </p:spPr>
      </p:pic>
      <p:sp>
        <p:nvSpPr>
          <p:cNvPr id="204" name="Linea di collegamento"/>
          <p:cNvSpPr/>
          <p:nvPr/>
        </p:nvSpPr>
        <p:spPr>
          <a:xfrm>
            <a:off x="967960" y="2134642"/>
            <a:ext cx="819609" cy="66037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202" h="21600" fill="norm" stroke="1" extrusionOk="0">
                <a:moveTo>
                  <a:pt x="592" y="21600"/>
                </a:moveTo>
                <a:cubicBezTo>
                  <a:pt x="21600" y="14550"/>
                  <a:pt x="21403" y="7350"/>
                  <a:pt x="0" y="0"/>
                </a:cubicBezTo>
              </a:path>
            </a:pathLst>
          </a:custGeom>
          <a:ln w="177800">
            <a:solidFill>
              <a:schemeClr val="accent1"/>
            </a:solidFill>
            <a:miter lim="400000"/>
          </a:ln>
        </p:spPr>
        <p:txBody>
          <a:bodyPr lIns="50800" tIns="50800" rIns="50800" bIns="50800"/>
          <a:lstStyle/>
          <a:p>
            <a:pPr/>
          </a:p>
        </p:txBody>
      </p:sp>
      <p:sp>
        <p:nvSpPr>
          <p:cNvPr id="205" name="Cerchio"/>
          <p:cNvSpPr/>
          <p:nvPr/>
        </p:nvSpPr>
        <p:spPr>
          <a:xfrm>
            <a:off x="925749" y="2143417"/>
            <a:ext cx="180547" cy="183707"/>
          </a:xfrm>
          <a:prstGeom prst="ellipse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06" name="Cerchio"/>
          <p:cNvSpPr/>
          <p:nvPr/>
        </p:nvSpPr>
        <p:spPr>
          <a:xfrm>
            <a:off x="913049" y="8635234"/>
            <a:ext cx="180547" cy="183707"/>
          </a:xfrm>
          <a:prstGeom prst="ellipse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209" name="4"/>
          <p:cNvGrpSpPr/>
          <p:nvPr/>
        </p:nvGrpSpPr>
        <p:grpSpPr>
          <a:xfrm>
            <a:off x="1287515" y="6470653"/>
            <a:ext cx="736604" cy="762003"/>
            <a:chOff x="0" y="0"/>
            <a:chExt cx="736602" cy="762002"/>
          </a:xfrm>
        </p:grpSpPr>
        <p:sp>
          <p:nvSpPr>
            <p:cNvPr id="207" name="Ovale"/>
            <p:cNvSpPr/>
            <p:nvPr/>
          </p:nvSpPr>
          <p:spPr>
            <a:xfrm>
              <a:off x="-1" y="-1"/>
              <a:ext cx="736604" cy="762004"/>
            </a:xfrm>
            <a:prstGeom prst="ellipse">
              <a:avLst/>
            </a:prstGeom>
            <a:solidFill>
              <a:srgbClr val="FFFFFF"/>
            </a:solidFill>
            <a:ln w="762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7022">
                <a:lnSpc>
                  <a:spcPct val="100000"/>
                </a:lnSpc>
                <a:spcBef>
                  <a:spcPts val="0"/>
                </a:spcBef>
                <a:defRPr b="1" sz="3100"/>
              </a:pPr>
            </a:p>
          </p:txBody>
        </p:sp>
        <p:sp>
          <p:nvSpPr>
            <p:cNvPr id="208" name="4"/>
            <p:cNvSpPr txBox="1"/>
            <p:nvPr/>
          </p:nvSpPr>
          <p:spPr>
            <a:xfrm>
              <a:off x="145972" y="94610"/>
              <a:ext cx="444657" cy="5727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587022">
                <a:lnSpc>
                  <a:spcPct val="100000"/>
                </a:lnSpc>
                <a:spcBef>
                  <a:spcPts val="0"/>
                </a:spcBef>
                <a:defRPr b="1" sz="3100"/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212" name="3"/>
          <p:cNvGrpSpPr/>
          <p:nvPr/>
        </p:nvGrpSpPr>
        <p:grpSpPr>
          <a:xfrm>
            <a:off x="1414515" y="5066577"/>
            <a:ext cx="736604" cy="762003"/>
            <a:chOff x="0" y="0"/>
            <a:chExt cx="736602" cy="762002"/>
          </a:xfrm>
        </p:grpSpPr>
        <p:sp>
          <p:nvSpPr>
            <p:cNvPr id="210" name="Ovale"/>
            <p:cNvSpPr/>
            <p:nvPr/>
          </p:nvSpPr>
          <p:spPr>
            <a:xfrm>
              <a:off x="-1" y="-1"/>
              <a:ext cx="736604" cy="762004"/>
            </a:xfrm>
            <a:prstGeom prst="ellipse">
              <a:avLst/>
            </a:prstGeom>
            <a:solidFill>
              <a:srgbClr val="FFFFFF"/>
            </a:solidFill>
            <a:ln w="762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7022">
                <a:lnSpc>
                  <a:spcPct val="100000"/>
                </a:lnSpc>
                <a:spcBef>
                  <a:spcPts val="0"/>
                </a:spcBef>
                <a:defRPr b="1" sz="3100"/>
              </a:pPr>
            </a:p>
          </p:txBody>
        </p:sp>
        <p:sp>
          <p:nvSpPr>
            <p:cNvPr id="211" name="3"/>
            <p:cNvSpPr txBox="1"/>
            <p:nvPr/>
          </p:nvSpPr>
          <p:spPr>
            <a:xfrm>
              <a:off x="145972" y="94610"/>
              <a:ext cx="444657" cy="5727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587022">
                <a:lnSpc>
                  <a:spcPct val="100000"/>
                </a:lnSpc>
                <a:spcBef>
                  <a:spcPts val="0"/>
                </a:spcBef>
                <a:defRPr b="1" sz="3100"/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215" name="2"/>
          <p:cNvGrpSpPr/>
          <p:nvPr/>
        </p:nvGrpSpPr>
        <p:grpSpPr>
          <a:xfrm>
            <a:off x="1287515" y="3627466"/>
            <a:ext cx="736604" cy="762003"/>
            <a:chOff x="0" y="0"/>
            <a:chExt cx="736602" cy="762002"/>
          </a:xfrm>
        </p:grpSpPr>
        <p:sp>
          <p:nvSpPr>
            <p:cNvPr id="213" name="Ovale"/>
            <p:cNvSpPr/>
            <p:nvPr/>
          </p:nvSpPr>
          <p:spPr>
            <a:xfrm>
              <a:off x="-1" y="-1"/>
              <a:ext cx="736604" cy="762004"/>
            </a:xfrm>
            <a:prstGeom prst="ellipse">
              <a:avLst/>
            </a:prstGeom>
            <a:solidFill>
              <a:srgbClr val="FFFFFF"/>
            </a:solidFill>
            <a:ln w="762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7022">
                <a:lnSpc>
                  <a:spcPct val="100000"/>
                </a:lnSpc>
                <a:spcBef>
                  <a:spcPts val="0"/>
                </a:spcBef>
                <a:defRPr b="1" sz="3100"/>
              </a:pPr>
            </a:p>
          </p:txBody>
        </p:sp>
        <p:sp>
          <p:nvSpPr>
            <p:cNvPr id="214" name="2"/>
            <p:cNvSpPr txBox="1"/>
            <p:nvPr/>
          </p:nvSpPr>
          <p:spPr>
            <a:xfrm>
              <a:off x="145972" y="94610"/>
              <a:ext cx="444657" cy="5727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587022">
                <a:lnSpc>
                  <a:spcPct val="100000"/>
                </a:lnSpc>
                <a:spcBef>
                  <a:spcPts val="0"/>
                </a:spcBef>
                <a:defRPr b="1" sz="3100"/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218" name="1"/>
          <p:cNvGrpSpPr/>
          <p:nvPr/>
        </p:nvGrpSpPr>
        <p:grpSpPr>
          <a:xfrm>
            <a:off x="843015" y="2226456"/>
            <a:ext cx="736604" cy="762003"/>
            <a:chOff x="0" y="0"/>
            <a:chExt cx="736602" cy="762002"/>
          </a:xfrm>
        </p:grpSpPr>
        <p:sp>
          <p:nvSpPr>
            <p:cNvPr id="216" name="Ovale"/>
            <p:cNvSpPr/>
            <p:nvPr/>
          </p:nvSpPr>
          <p:spPr>
            <a:xfrm>
              <a:off x="-1" y="-1"/>
              <a:ext cx="736604" cy="762004"/>
            </a:xfrm>
            <a:prstGeom prst="ellipse">
              <a:avLst/>
            </a:prstGeom>
            <a:solidFill>
              <a:srgbClr val="FFFFFF"/>
            </a:solidFill>
            <a:ln w="762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7022">
                <a:lnSpc>
                  <a:spcPct val="100000"/>
                </a:lnSpc>
                <a:spcBef>
                  <a:spcPts val="0"/>
                </a:spcBef>
                <a:defRPr b="1" sz="3100"/>
              </a:pPr>
            </a:p>
          </p:txBody>
        </p:sp>
        <p:sp>
          <p:nvSpPr>
            <p:cNvPr id="217" name="1"/>
            <p:cNvSpPr txBox="1"/>
            <p:nvPr/>
          </p:nvSpPr>
          <p:spPr>
            <a:xfrm>
              <a:off x="145972" y="94610"/>
              <a:ext cx="444657" cy="5727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587022">
                <a:lnSpc>
                  <a:spcPct val="100000"/>
                </a:lnSpc>
                <a:spcBef>
                  <a:spcPts val="0"/>
                </a:spcBef>
                <a:defRPr b="1" sz="3100"/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221" name="5"/>
          <p:cNvGrpSpPr/>
          <p:nvPr/>
        </p:nvGrpSpPr>
        <p:grpSpPr>
          <a:xfrm>
            <a:off x="855715" y="7874731"/>
            <a:ext cx="736604" cy="762003"/>
            <a:chOff x="0" y="0"/>
            <a:chExt cx="736602" cy="762002"/>
          </a:xfrm>
        </p:grpSpPr>
        <p:sp>
          <p:nvSpPr>
            <p:cNvPr id="219" name="Ovale"/>
            <p:cNvSpPr/>
            <p:nvPr/>
          </p:nvSpPr>
          <p:spPr>
            <a:xfrm>
              <a:off x="-1" y="-1"/>
              <a:ext cx="736604" cy="762004"/>
            </a:xfrm>
            <a:prstGeom prst="ellipse">
              <a:avLst/>
            </a:prstGeom>
            <a:solidFill>
              <a:srgbClr val="FFFFFF"/>
            </a:solidFill>
            <a:ln w="762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7022">
                <a:lnSpc>
                  <a:spcPct val="100000"/>
                </a:lnSpc>
                <a:spcBef>
                  <a:spcPts val="0"/>
                </a:spcBef>
                <a:defRPr b="1" sz="3100"/>
              </a:pPr>
            </a:p>
          </p:txBody>
        </p:sp>
        <p:sp>
          <p:nvSpPr>
            <p:cNvPr id="220" name="5"/>
            <p:cNvSpPr txBox="1"/>
            <p:nvPr/>
          </p:nvSpPr>
          <p:spPr>
            <a:xfrm>
              <a:off x="145972" y="94610"/>
              <a:ext cx="444657" cy="5727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587022">
                <a:lnSpc>
                  <a:spcPct val="100000"/>
                </a:lnSpc>
                <a:spcBef>
                  <a:spcPts val="0"/>
                </a:spcBef>
                <a:defRPr b="1" sz="3100"/>
              </a:lvl1pPr>
            </a:lstStyle>
            <a:p>
              <a:pPr/>
              <a:r>
                <a:t>5</a:t>
              </a:r>
            </a:p>
          </p:txBody>
        </p:sp>
      </p:grpSp>
      <p:sp>
        <p:nvSpPr>
          <p:cNvPr id="222" name="Cerchio"/>
          <p:cNvSpPr/>
          <p:nvPr/>
        </p:nvSpPr>
        <p:spPr>
          <a:xfrm>
            <a:off x="878819" y="2044144"/>
            <a:ext cx="180547" cy="183707"/>
          </a:xfrm>
          <a:prstGeom prst="ellipse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223" name="Immagine" descr="Immagine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1347646" y="8122608"/>
            <a:ext cx="1461405" cy="1456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reprocessing"/>
          <p:cNvSpPr txBox="1"/>
          <p:nvPr>
            <p:ph type="title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</p:spPr>
        <p:txBody>
          <a:bodyPr/>
          <a:lstStyle>
            <a:lvl1pPr defTabSz="1716589">
              <a:defRPr spc="-200" sz="5900"/>
            </a:lvl1pPr>
          </a:lstStyle>
          <a:p>
            <a:pPr/>
            <a:r>
              <a:t>Preprocessing</a:t>
            </a:r>
          </a:p>
        </p:txBody>
      </p:sp>
      <p:pic>
        <p:nvPicPr>
          <p:cNvPr id="226" name="Immagine" descr="Immagin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6700" y="8122608"/>
            <a:ext cx="1461405" cy="1456401"/>
          </a:xfrm>
          <a:prstGeom prst="rect">
            <a:avLst/>
          </a:prstGeom>
          <a:ln w="12700">
            <a:miter lim="400000"/>
          </a:ln>
        </p:spPr>
      </p:pic>
      <p:sp>
        <p:nvSpPr>
          <p:cNvPr id="227" name="Filtraggio"/>
          <p:cNvSpPr txBox="1"/>
          <p:nvPr/>
        </p:nvSpPr>
        <p:spPr>
          <a:xfrm>
            <a:off x="564307" y="1571268"/>
            <a:ext cx="2092420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587022">
              <a:lnSpc>
                <a:spcPct val="100000"/>
              </a:lnSpc>
              <a:spcBef>
                <a:spcPts val="0"/>
              </a:spcBef>
              <a:defRPr b="1"/>
            </a:lvl1pPr>
          </a:lstStyle>
          <a:p>
            <a:pPr/>
            <a:r>
              <a:t>Filtraggio</a:t>
            </a:r>
          </a:p>
        </p:txBody>
      </p:sp>
      <p:sp>
        <p:nvSpPr>
          <p:cNvPr id="228" name="Re-referencing (CAR)"/>
          <p:cNvSpPr txBox="1"/>
          <p:nvPr/>
        </p:nvSpPr>
        <p:spPr>
          <a:xfrm>
            <a:off x="543556" y="5107235"/>
            <a:ext cx="3980308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587022">
              <a:lnSpc>
                <a:spcPct val="100000"/>
              </a:lnSpc>
              <a:spcBef>
                <a:spcPts val="0"/>
              </a:spcBef>
              <a:defRPr b="1"/>
            </a:lvl1pPr>
          </a:lstStyle>
          <a:p>
            <a:pPr/>
            <a:r>
              <a:t>Re-referencing (CAR)</a:t>
            </a:r>
          </a:p>
        </p:txBody>
      </p:sp>
      <p:sp>
        <p:nvSpPr>
          <p:cNvPr id="229" name="Passbass FIR 0.5-70 Hz (Finestra di Hamming)…"/>
          <p:cNvSpPr txBox="1"/>
          <p:nvPr/>
        </p:nvSpPr>
        <p:spPr>
          <a:xfrm>
            <a:off x="596130" y="2246719"/>
            <a:ext cx="4746344" cy="2604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533400" indent="-533400">
              <a:buSzPct val="100000"/>
              <a:buAutoNum type="arabicPeriod" startAt="1"/>
            </a:pPr>
            <a:r>
              <a:t>Passbass FIR 0.5-70 Hz (Finestra di Hamming)</a:t>
            </a:r>
          </a:p>
          <a:p>
            <a:pPr marL="533400" indent="-533400">
              <a:buSzPct val="100000"/>
              <a:buAutoNum type="arabicPeriod" startAt="1"/>
            </a:pPr>
            <a:r>
              <a:t>Notch FIR a 50 Hz (Interferenza della rete elettrica)</a:t>
            </a:r>
          </a:p>
        </p:txBody>
      </p:sp>
      <p:sp>
        <p:nvSpPr>
          <p:cNvPr id="230" name="Rimozione degli artefatti via ICA…"/>
          <p:cNvSpPr txBox="1"/>
          <p:nvPr/>
        </p:nvSpPr>
        <p:spPr>
          <a:xfrm>
            <a:off x="537380" y="5923481"/>
            <a:ext cx="4863844" cy="17796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533400" indent="-533400">
              <a:buSzPct val="100000"/>
              <a:buAutoNum type="arabicPeriod" startAt="1"/>
            </a:pPr>
            <a:r>
              <a:t>Rimozione degli artefatti via ICA</a:t>
            </a:r>
          </a:p>
          <a:p>
            <a:pPr marL="533400" indent="-533400">
              <a:buSzPct val="100000"/>
              <a:buAutoNum type="arabicPeriod" startAt="1"/>
            </a:pPr>
            <a:r>
              <a:t>Normalizzazione Z-score</a:t>
            </a:r>
          </a:p>
        </p:txBody>
      </p:sp>
      <p:grpSp>
        <p:nvGrpSpPr>
          <p:cNvPr id="235" name="Raggruppa"/>
          <p:cNvGrpSpPr/>
          <p:nvPr/>
        </p:nvGrpSpPr>
        <p:grpSpPr>
          <a:xfrm>
            <a:off x="5439184" y="1543044"/>
            <a:ext cx="7377116" cy="8061592"/>
            <a:chOff x="0" y="0"/>
            <a:chExt cx="7377114" cy="8061590"/>
          </a:xfrm>
        </p:grpSpPr>
        <p:pic>
          <p:nvPicPr>
            <p:cNvPr id="231" name="s-01_raw_vs_clean.png" descr="s-01_raw_vs_clean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86" t="3235" r="86" b="327"/>
            <a:stretch>
              <a:fillRect/>
            </a:stretch>
          </p:blipFill>
          <p:spPr>
            <a:xfrm>
              <a:off x="0" y="-1"/>
              <a:ext cx="7376959" cy="763534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234" name="Caption"/>
            <p:cNvGrpSpPr/>
            <p:nvPr/>
          </p:nvGrpSpPr>
          <p:grpSpPr>
            <a:xfrm>
              <a:off x="-1" y="7737079"/>
              <a:ext cx="7377116" cy="324512"/>
              <a:chOff x="0" y="0"/>
              <a:chExt cx="7377114" cy="324511"/>
            </a:xfrm>
          </p:grpSpPr>
          <p:sp>
            <p:nvSpPr>
              <p:cNvPr id="232" name="Rettangolo"/>
              <p:cNvSpPr/>
              <p:nvPr/>
            </p:nvSpPr>
            <p:spPr>
              <a:xfrm>
                <a:off x="0" y="0"/>
                <a:ext cx="7377115" cy="324512"/>
              </a:xfrm>
              <a:prstGeom prst="roundRect">
                <a:avLst>
                  <a:gd name="adj" fmla="val 0"/>
                </a:avLst>
              </a:prstGeom>
              <a:solidFill>
                <a:srgbClr val="000000">
                  <a:alpha val="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t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defRPr sz="1600">
                    <a:solidFill>
                      <a:srgbClr val="5E5E5E"/>
                    </a:solidFill>
                  </a:defRPr>
                </a:pPr>
              </a:p>
            </p:txBody>
          </p:sp>
          <p:sp>
            <p:nvSpPr>
              <p:cNvPr id="233" name="Esempio di dati pre e post Pre-processing"/>
              <p:cNvSpPr txBox="1"/>
              <p:nvPr/>
            </p:nvSpPr>
            <p:spPr>
              <a:xfrm>
                <a:off x="0" y="-1"/>
                <a:ext cx="7377115" cy="32451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algn="ctr">
                  <a:lnSpc>
                    <a:spcPct val="100000"/>
                  </a:lnSpc>
                  <a:spcBef>
                    <a:spcPts val="0"/>
                  </a:spcBef>
                  <a:defRPr sz="1600">
                    <a:solidFill>
                      <a:srgbClr val="5E5E5E"/>
                    </a:solidFill>
                  </a:defRPr>
                </a:lvl1pPr>
              </a:lstStyle>
              <a:p>
                <a:pPr/>
                <a:r>
                  <a:t>Esempio di dati pre e post Pre-processing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incronizzazione dell’EEG con il momento in cui il partecipante effettua la scelta del deck da cui pescare durante l’IGT…"/>
          <p:cNvSpPr txBox="1"/>
          <p:nvPr>
            <p:ph type="body" idx="1"/>
          </p:nvPr>
        </p:nvSpPr>
        <p:spPr>
          <a:xfrm>
            <a:off x="698500" y="1649777"/>
            <a:ext cx="11607800" cy="6454046"/>
          </a:xfrm>
          <a:prstGeom prst="rect">
            <a:avLst/>
          </a:prstGeom>
        </p:spPr>
        <p:txBody>
          <a:bodyPr/>
          <a:lstStyle/>
          <a:p>
            <a:pPr/>
            <a:r>
              <a:t>Sincronizzazione dell’EEG con il momento in cui il partecipante effettua la scelta del deck da cui pescare durante l’IGT</a:t>
            </a:r>
          </a:p>
          <a:p>
            <a:pPr/>
            <a:r>
              <a:t>Osservazione dell’EEG nella finestra temporale [-2s, 0s]</a:t>
            </a:r>
          </a:p>
          <a:p>
            <a:pPr lvl="1"/>
            <a:r>
              <a:t>Decision Preceding Negativity (DPN)</a:t>
            </a:r>
          </a:p>
          <a:p>
            <a:pPr lvl="1"/>
            <a:r>
              <a:t>Slow Cortical Potentials</a:t>
            </a:r>
          </a:p>
          <a:p>
            <a:pPr lvl="1"/>
            <a:r>
              <a:t>Theta frontale massima durante deliberazione</a:t>
            </a:r>
          </a:p>
          <a:p>
            <a:pPr lvl="1"/>
            <a:r>
              <a:t>Nessuna contaminazione FRN/P300 post-decisionale</a:t>
            </a:r>
            <a:r>
              <a:rPr sz="1200"/>
              <a:t> </a:t>
            </a:r>
            <a:endParaRPr sz="1200"/>
          </a:p>
          <a:p>
            <a:pPr/>
            <a:r>
              <a:t>Generazione delle label binarie</a:t>
            </a:r>
          </a:p>
        </p:txBody>
      </p:sp>
      <p:sp>
        <p:nvSpPr>
          <p:cNvPr id="238" name="Sincronizzazione ed Epoching"/>
          <p:cNvSpPr txBox="1"/>
          <p:nvPr>
            <p:ph type="title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</p:spPr>
        <p:txBody>
          <a:bodyPr/>
          <a:lstStyle>
            <a:lvl1pPr defTabSz="1265767">
              <a:defRPr spc="-200" sz="5900"/>
            </a:lvl1pPr>
          </a:lstStyle>
          <a:p>
            <a:pPr/>
            <a:r>
              <a:t>Sincronizzazione ed Epoching</a:t>
            </a:r>
          </a:p>
        </p:txBody>
      </p:sp>
      <p:pic>
        <p:nvPicPr>
          <p:cNvPr id="239" name="Immagine" descr="Immagin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347646" y="8122608"/>
            <a:ext cx="1461405" cy="1456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Applicando il filtro di Welch:"/>
          <p:cNvSpPr txBox="1"/>
          <p:nvPr>
            <p:ph type="body" sz="quarter" idx="1"/>
          </p:nvPr>
        </p:nvSpPr>
        <p:spPr>
          <a:xfrm>
            <a:off x="698498" y="1522119"/>
            <a:ext cx="11607804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/>
            </a:lvl1pPr>
          </a:lstStyle>
          <a:p>
            <a:pPr/>
            <a:r>
              <a:t>Applicando il filtro di Welch:</a:t>
            </a:r>
          </a:p>
        </p:txBody>
      </p:sp>
      <p:sp>
        <p:nvSpPr>
          <p:cNvPr id="242" name="Estrazione Feature PSD"/>
          <p:cNvSpPr txBox="1"/>
          <p:nvPr>
            <p:ph type="title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</p:spPr>
        <p:txBody>
          <a:bodyPr/>
          <a:lstStyle>
            <a:lvl1pPr defTabSz="1265767">
              <a:defRPr spc="-200" sz="5900"/>
            </a:lvl1pPr>
          </a:lstStyle>
          <a:p>
            <a:pPr/>
            <a:r>
              <a:t>Estrazione Feature PSD</a:t>
            </a:r>
          </a:p>
        </p:txBody>
      </p:sp>
      <p:pic>
        <p:nvPicPr>
          <p:cNvPr id="243" name="filmato-incollato.png" descr="filmato-incollat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52064" y="4220852"/>
            <a:ext cx="11700497" cy="3720232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" name="Immagine" descr="Immagin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347646" y="8122608"/>
            <a:ext cx="1461405" cy="1456401"/>
          </a:xfrm>
          <a:prstGeom prst="rect">
            <a:avLst/>
          </a:prstGeom>
          <a:ln w="12700">
            <a:miter lim="400000"/>
          </a:ln>
        </p:spPr>
      </p:pic>
      <p:sp>
        <p:nvSpPr>
          <p:cNvPr id="245" name="Stima la densità spettrale di potenza su ogni epoca di 2 secondi, producendo per ogni canale la potenza media nelle 5 bande…"/>
          <p:cNvSpPr txBox="1"/>
          <p:nvPr/>
        </p:nvSpPr>
        <p:spPr>
          <a:xfrm>
            <a:off x="698498" y="2259774"/>
            <a:ext cx="11607804" cy="1779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L="381000" indent="-381000">
              <a:buSzPct val="123000"/>
              <a:buChar char="•"/>
            </a:lvl1pPr>
            <a:lvl2pPr marL="762000" indent="-381000">
              <a:buSzPct val="123000"/>
              <a:buChar char="•"/>
            </a:lvl2pPr>
          </a:lstStyle>
          <a:p>
            <a:pPr/>
            <a:r>
              <a:t>Stima la densità spettrale di potenza su ogni epoca di 2 secondi, producendo per ogni canale la potenza media nelle 5 bande</a:t>
            </a:r>
          </a:p>
          <a:p>
            <a:pPr lvl="1"/>
            <a:r>
              <a:t>105 feature/epoca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Classificazione Multi-modello &amp; Validazione LOSO"/>
          <p:cNvSpPr txBox="1"/>
          <p:nvPr>
            <p:ph type="title"/>
          </p:nvPr>
        </p:nvSpPr>
        <p:spPr>
          <a:xfrm>
            <a:off x="698500" y="440265"/>
            <a:ext cx="11607800" cy="1785136"/>
          </a:xfrm>
          <a:prstGeom prst="rect">
            <a:avLst/>
          </a:prstGeom>
        </p:spPr>
        <p:txBody>
          <a:bodyPr/>
          <a:lstStyle>
            <a:lvl1pPr defTabSz="1283108">
              <a:defRPr spc="-200"/>
            </a:lvl1pPr>
          </a:lstStyle>
          <a:p>
            <a:pPr/>
            <a:r>
              <a:t>Classificazione Multi-modello &amp; Validazione LOSO</a:t>
            </a:r>
          </a:p>
        </p:txBody>
      </p:sp>
      <p:pic>
        <p:nvPicPr>
          <p:cNvPr id="248" name="filmato-incollato.png" descr="filmato-incollat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8500" y="2966768"/>
            <a:ext cx="11607800" cy="2272352"/>
          </a:xfrm>
          <a:prstGeom prst="rect">
            <a:avLst/>
          </a:prstGeom>
          <a:ln w="12700">
            <a:miter lim="400000"/>
          </a:ln>
        </p:spPr>
      </p:pic>
      <p:sp>
        <p:nvSpPr>
          <p:cNvPr id="249" name="Strategia di Validazione: Leave-One-Subject-Out (LOSO)"/>
          <p:cNvSpPr txBox="1"/>
          <p:nvPr/>
        </p:nvSpPr>
        <p:spPr>
          <a:xfrm>
            <a:off x="700280" y="5555148"/>
            <a:ext cx="11604240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/>
            </a:lvl1pPr>
          </a:lstStyle>
          <a:p>
            <a:pPr/>
            <a:r>
              <a:t>Strategia di Validazione: Leave-One-Subject-Out (LOSO)</a:t>
            </a:r>
          </a:p>
        </p:txBody>
      </p:sp>
      <p:sp>
        <p:nvSpPr>
          <p:cNvPr id="250" name="Classificazione"/>
          <p:cNvSpPr txBox="1"/>
          <p:nvPr/>
        </p:nvSpPr>
        <p:spPr>
          <a:xfrm>
            <a:off x="700280" y="2315860"/>
            <a:ext cx="11604240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/>
            </a:lvl1pPr>
          </a:lstStyle>
          <a:p>
            <a:pPr/>
            <a:r>
              <a:t>Classificazione</a:t>
            </a:r>
          </a:p>
        </p:txBody>
      </p:sp>
      <p:grpSp>
        <p:nvGrpSpPr>
          <p:cNvPr id="253" name="S-01"/>
          <p:cNvGrpSpPr/>
          <p:nvPr/>
        </p:nvGrpSpPr>
        <p:grpSpPr>
          <a:xfrm>
            <a:off x="823258" y="7083973"/>
            <a:ext cx="1267512" cy="1270001"/>
            <a:chOff x="0" y="0"/>
            <a:chExt cx="1267511" cy="1270000"/>
          </a:xfrm>
        </p:grpSpPr>
        <p:sp>
          <p:nvSpPr>
            <p:cNvPr id="251" name="Rettangolo arrotondato"/>
            <p:cNvSpPr/>
            <p:nvPr/>
          </p:nvSpPr>
          <p:spPr>
            <a:xfrm>
              <a:off x="0" y="0"/>
              <a:ext cx="1267512" cy="1270001"/>
            </a:xfrm>
            <a:prstGeom prst="roundRect">
              <a:avLst>
                <a:gd name="adj" fmla="val 22325"/>
              </a:avLst>
            </a:prstGeom>
            <a:solidFill>
              <a:srgbClr val="56C1FF">
                <a:alpha val="80395"/>
              </a:srgbClr>
            </a:solidFill>
            <a:ln w="508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52" name="S-01"/>
            <p:cNvSpPr txBox="1"/>
            <p:nvPr/>
          </p:nvSpPr>
          <p:spPr>
            <a:xfrm>
              <a:off x="108279" y="416802"/>
              <a:ext cx="105095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S-01</a:t>
              </a:r>
            </a:p>
          </p:txBody>
        </p:sp>
      </p:grpSp>
      <p:grpSp>
        <p:nvGrpSpPr>
          <p:cNvPr id="256" name="S-02"/>
          <p:cNvGrpSpPr/>
          <p:nvPr/>
        </p:nvGrpSpPr>
        <p:grpSpPr>
          <a:xfrm>
            <a:off x="2267754" y="7083973"/>
            <a:ext cx="1267512" cy="1270001"/>
            <a:chOff x="0" y="0"/>
            <a:chExt cx="1267511" cy="1270000"/>
          </a:xfrm>
        </p:grpSpPr>
        <p:sp>
          <p:nvSpPr>
            <p:cNvPr id="254" name="Rettangolo arrotondato"/>
            <p:cNvSpPr/>
            <p:nvPr/>
          </p:nvSpPr>
          <p:spPr>
            <a:xfrm>
              <a:off x="0" y="0"/>
              <a:ext cx="1267512" cy="1270001"/>
            </a:xfrm>
            <a:prstGeom prst="roundRect">
              <a:avLst>
                <a:gd name="adj" fmla="val 22325"/>
              </a:avLst>
            </a:prstGeom>
            <a:solidFill>
              <a:srgbClr val="56C1FF">
                <a:alpha val="80395"/>
              </a:srgbClr>
            </a:solidFill>
            <a:ln w="508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55" name="S-02"/>
            <p:cNvSpPr txBox="1"/>
            <p:nvPr/>
          </p:nvSpPr>
          <p:spPr>
            <a:xfrm>
              <a:off x="108279" y="416802"/>
              <a:ext cx="105095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S-02</a:t>
              </a:r>
            </a:p>
          </p:txBody>
        </p:sp>
      </p:grpSp>
      <p:grpSp>
        <p:nvGrpSpPr>
          <p:cNvPr id="259" name="S-03"/>
          <p:cNvGrpSpPr/>
          <p:nvPr/>
        </p:nvGrpSpPr>
        <p:grpSpPr>
          <a:xfrm>
            <a:off x="3712248" y="7083973"/>
            <a:ext cx="1267512" cy="1270001"/>
            <a:chOff x="0" y="0"/>
            <a:chExt cx="1267511" cy="1270000"/>
          </a:xfrm>
        </p:grpSpPr>
        <p:sp>
          <p:nvSpPr>
            <p:cNvPr id="257" name="Rettangolo arrotondato"/>
            <p:cNvSpPr/>
            <p:nvPr/>
          </p:nvSpPr>
          <p:spPr>
            <a:xfrm>
              <a:off x="0" y="0"/>
              <a:ext cx="1267512" cy="1270001"/>
            </a:xfrm>
            <a:prstGeom prst="roundRect">
              <a:avLst>
                <a:gd name="adj" fmla="val 22325"/>
              </a:avLst>
            </a:prstGeom>
            <a:solidFill>
              <a:srgbClr val="56C1FF">
                <a:alpha val="80395"/>
              </a:srgbClr>
            </a:solidFill>
            <a:ln w="508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58" name="S-03"/>
            <p:cNvSpPr txBox="1"/>
            <p:nvPr/>
          </p:nvSpPr>
          <p:spPr>
            <a:xfrm>
              <a:off x="108279" y="416802"/>
              <a:ext cx="105095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S-03</a:t>
              </a:r>
            </a:p>
          </p:txBody>
        </p:sp>
      </p:grpSp>
      <p:grpSp>
        <p:nvGrpSpPr>
          <p:cNvPr id="262" name="S-04"/>
          <p:cNvGrpSpPr/>
          <p:nvPr/>
        </p:nvGrpSpPr>
        <p:grpSpPr>
          <a:xfrm>
            <a:off x="5144044" y="7083973"/>
            <a:ext cx="1267512" cy="1270001"/>
            <a:chOff x="0" y="0"/>
            <a:chExt cx="1267511" cy="1270000"/>
          </a:xfrm>
        </p:grpSpPr>
        <p:sp>
          <p:nvSpPr>
            <p:cNvPr id="260" name="Rettangolo arrotondato"/>
            <p:cNvSpPr/>
            <p:nvPr/>
          </p:nvSpPr>
          <p:spPr>
            <a:xfrm>
              <a:off x="0" y="0"/>
              <a:ext cx="1267512" cy="1270001"/>
            </a:xfrm>
            <a:prstGeom prst="roundRect">
              <a:avLst>
                <a:gd name="adj" fmla="val 22325"/>
              </a:avLst>
            </a:prstGeom>
            <a:solidFill>
              <a:srgbClr val="EE230C">
                <a:alpha val="80000"/>
              </a:srgbClr>
            </a:solidFill>
            <a:ln w="50800" cap="flat">
              <a:solidFill>
                <a:srgbClr val="EE230C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61" name="S-04"/>
            <p:cNvSpPr txBox="1"/>
            <p:nvPr/>
          </p:nvSpPr>
          <p:spPr>
            <a:xfrm>
              <a:off x="108279" y="416802"/>
              <a:ext cx="105095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S-04</a:t>
              </a:r>
            </a:p>
          </p:txBody>
        </p:sp>
      </p:grpSp>
      <p:grpSp>
        <p:nvGrpSpPr>
          <p:cNvPr id="265" name="S-05"/>
          <p:cNvGrpSpPr/>
          <p:nvPr/>
        </p:nvGrpSpPr>
        <p:grpSpPr>
          <a:xfrm>
            <a:off x="6575838" y="7083973"/>
            <a:ext cx="1267512" cy="1270001"/>
            <a:chOff x="0" y="0"/>
            <a:chExt cx="1267511" cy="1270000"/>
          </a:xfrm>
        </p:grpSpPr>
        <p:sp>
          <p:nvSpPr>
            <p:cNvPr id="263" name="Rettangolo arrotondato"/>
            <p:cNvSpPr/>
            <p:nvPr/>
          </p:nvSpPr>
          <p:spPr>
            <a:xfrm>
              <a:off x="0" y="0"/>
              <a:ext cx="1267512" cy="1270001"/>
            </a:xfrm>
            <a:prstGeom prst="roundRect">
              <a:avLst>
                <a:gd name="adj" fmla="val 22325"/>
              </a:avLst>
            </a:prstGeom>
            <a:solidFill>
              <a:srgbClr val="56C1FF">
                <a:alpha val="80395"/>
              </a:srgbClr>
            </a:solidFill>
            <a:ln w="508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64" name="S-05"/>
            <p:cNvSpPr txBox="1"/>
            <p:nvPr/>
          </p:nvSpPr>
          <p:spPr>
            <a:xfrm>
              <a:off x="108279" y="416802"/>
              <a:ext cx="105095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S-05</a:t>
              </a:r>
            </a:p>
          </p:txBody>
        </p:sp>
      </p:grpSp>
      <p:grpSp>
        <p:nvGrpSpPr>
          <p:cNvPr id="268" name="S-06"/>
          <p:cNvGrpSpPr/>
          <p:nvPr/>
        </p:nvGrpSpPr>
        <p:grpSpPr>
          <a:xfrm>
            <a:off x="8033033" y="7083973"/>
            <a:ext cx="1267512" cy="1270001"/>
            <a:chOff x="0" y="0"/>
            <a:chExt cx="1267511" cy="1270000"/>
          </a:xfrm>
        </p:grpSpPr>
        <p:sp>
          <p:nvSpPr>
            <p:cNvPr id="266" name="Rettangolo arrotondato"/>
            <p:cNvSpPr/>
            <p:nvPr/>
          </p:nvSpPr>
          <p:spPr>
            <a:xfrm>
              <a:off x="0" y="0"/>
              <a:ext cx="1267512" cy="1270001"/>
            </a:xfrm>
            <a:prstGeom prst="roundRect">
              <a:avLst>
                <a:gd name="adj" fmla="val 22325"/>
              </a:avLst>
            </a:prstGeom>
            <a:solidFill>
              <a:srgbClr val="56C1FF">
                <a:alpha val="80395"/>
              </a:srgbClr>
            </a:solidFill>
            <a:ln w="508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67" name="S-06"/>
            <p:cNvSpPr txBox="1"/>
            <p:nvPr/>
          </p:nvSpPr>
          <p:spPr>
            <a:xfrm>
              <a:off x="108279" y="416802"/>
              <a:ext cx="105095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S-06</a:t>
              </a:r>
            </a:p>
          </p:txBody>
        </p:sp>
      </p:grpSp>
      <p:grpSp>
        <p:nvGrpSpPr>
          <p:cNvPr id="271" name="S-55"/>
          <p:cNvGrpSpPr/>
          <p:nvPr/>
        </p:nvGrpSpPr>
        <p:grpSpPr>
          <a:xfrm>
            <a:off x="9851907" y="7083973"/>
            <a:ext cx="1267512" cy="1270001"/>
            <a:chOff x="0" y="0"/>
            <a:chExt cx="1267511" cy="1270000"/>
          </a:xfrm>
        </p:grpSpPr>
        <p:sp>
          <p:nvSpPr>
            <p:cNvPr id="269" name="Rettangolo arrotondato"/>
            <p:cNvSpPr/>
            <p:nvPr/>
          </p:nvSpPr>
          <p:spPr>
            <a:xfrm>
              <a:off x="0" y="0"/>
              <a:ext cx="1267512" cy="1270001"/>
            </a:xfrm>
            <a:prstGeom prst="roundRect">
              <a:avLst>
                <a:gd name="adj" fmla="val 22325"/>
              </a:avLst>
            </a:prstGeom>
            <a:solidFill>
              <a:srgbClr val="56C1FF">
                <a:alpha val="80395"/>
              </a:srgbClr>
            </a:solidFill>
            <a:ln w="508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70" name="S-55"/>
            <p:cNvSpPr txBox="1"/>
            <p:nvPr/>
          </p:nvSpPr>
          <p:spPr>
            <a:xfrm>
              <a:off x="108279" y="416802"/>
              <a:ext cx="1050953" cy="4363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S-55</a:t>
              </a:r>
            </a:p>
          </p:txBody>
        </p:sp>
      </p:grpSp>
      <p:sp>
        <p:nvSpPr>
          <p:cNvPr id="272" name="…"/>
          <p:cNvSpPr txBox="1"/>
          <p:nvPr/>
        </p:nvSpPr>
        <p:spPr>
          <a:xfrm>
            <a:off x="9334926" y="7829236"/>
            <a:ext cx="495301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…</a:t>
            </a:r>
          </a:p>
        </p:txBody>
      </p:sp>
      <p:sp>
        <p:nvSpPr>
          <p:cNvPr id="273" name="Ad ogni fold, addestriamo su 54 soggetti e testiamo sul 55esimo"/>
          <p:cNvSpPr txBox="1"/>
          <p:nvPr/>
        </p:nvSpPr>
        <p:spPr>
          <a:xfrm>
            <a:off x="684546" y="6203989"/>
            <a:ext cx="11635708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L="381000" indent="-381000">
              <a:buSzPct val="123000"/>
              <a:buChar char="•"/>
            </a:lvl1pPr>
          </a:lstStyle>
          <a:p>
            <a:pPr/>
            <a:r>
              <a:t>Ad ogni fold, addestriamo su 54 soggetti e testiamo sul 55esimo</a:t>
            </a:r>
          </a:p>
        </p:txBody>
      </p:sp>
      <p:pic>
        <p:nvPicPr>
          <p:cNvPr id="274" name="Immagine" descr="Immagin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347646" y="8122608"/>
            <a:ext cx="1461405" cy="1456401"/>
          </a:xfrm>
          <a:prstGeom prst="rect">
            <a:avLst/>
          </a:prstGeom>
          <a:ln w="12700">
            <a:miter lim="400000"/>
          </a:ln>
        </p:spPr>
      </p:pic>
      <p:sp>
        <p:nvSpPr>
          <p:cNvPr id="275" name="Soggetto di test"/>
          <p:cNvSpPr txBox="1"/>
          <p:nvPr/>
        </p:nvSpPr>
        <p:spPr>
          <a:xfrm>
            <a:off x="4994019" y="8416659"/>
            <a:ext cx="1592961" cy="8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2500">
                <a:solidFill>
                  <a:srgbClr val="EE230C"/>
                </a:solidFill>
              </a:defRPr>
            </a:lvl1pPr>
          </a:lstStyle>
          <a:p>
            <a:pPr/>
            <a:r>
              <a:t>Soggetto di test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Risultati - Metriche di classificazione"/>
          <p:cNvSpPr txBox="1"/>
          <p:nvPr>
            <p:ph type="title"/>
          </p:nvPr>
        </p:nvSpPr>
        <p:spPr>
          <a:xfrm>
            <a:off x="698499" y="440266"/>
            <a:ext cx="12046810" cy="1013652"/>
          </a:xfrm>
          <a:prstGeom prst="rect">
            <a:avLst/>
          </a:prstGeom>
        </p:spPr>
        <p:txBody>
          <a:bodyPr/>
          <a:lstStyle>
            <a:lvl1pPr defTabSz="1612553">
              <a:defRPr spc="-199" sz="5500"/>
            </a:lvl1pPr>
          </a:lstStyle>
          <a:p>
            <a:pPr/>
            <a:r>
              <a:t>Risultati - Metriche di classificazione</a:t>
            </a:r>
          </a:p>
        </p:txBody>
      </p:sp>
      <p:pic>
        <p:nvPicPr>
          <p:cNvPr id="278" name="confusion_matrices.png" descr="confusion_matrices.png"/>
          <p:cNvPicPr>
            <a:picLocks noChangeAspect="1"/>
          </p:cNvPicPr>
          <p:nvPr/>
        </p:nvPicPr>
        <p:blipFill>
          <a:blip r:embed="rId2">
            <a:extLst/>
          </a:blip>
          <a:srcRect l="0" t="10302" r="32937" b="0"/>
          <a:stretch>
            <a:fillRect/>
          </a:stretch>
        </p:blipFill>
        <p:spPr>
          <a:xfrm>
            <a:off x="720124" y="1311212"/>
            <a:ext cx="10956630" cy="4099615"/>
          </a:xfrm>
          <a:prstGeom prst="rect">
            <a:avLst/>
          </a:prstGeom>
          <a:ln w="12700">
            <a:miter lim="400000"/>
          </a:ln>
        </p:spPr>
      </p:pic>
      <p:pic>
        <p:nvPicPr>
          <p:cNvPr id="279" name="Immagine" descr="Immagin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347646" y="8122608"/>
            <a:ext cx="1461405" cy="1456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0" name="roc_curves.png" descr="roc_curves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800581" y="5706497"/>
            <a:ext cx="4519548" cy="3873897"/>
          </a:xfrm>
          <a:prstGeom prst="rect">
            <a:avLst/>
          </a:prstGeom>
          <a:ln w="12700">
            <a:miter lim="400000"/>
          </a:ln>
        </p:spPr>
      </p:pic>
      <p:pic>
        <p:nvPicPr>
          <p:cNvPr id="281" name="confusion_matrices.png" descr="confusion_matrices.png"/>
          <p:cNvPicPr>
            <a:picLocks noChangeAspect="1"/>
          </p:cNvPicPr>
          <p:nvPr/>
        </p:nvPicPr>
        <p:blipFill>
          <a:blip r:embed="rId2">
            <a:extLst/>
          </a:blip>
          <a:srcRect l="67270" t="14093" r="0" b="963"/>
          <a:stretch>
            <a:fillRect/>
          </a:stretch>
        </p:blipFill>
        <p:spPr>
          <a:xfrm>
            <a:off x="759428" y="5706497"/>
            <a:ext cx="5335857" cy="387393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Risultati - Variabilità intersoggettiva"/>
          <p:cNvSpPr txBox="1"/>
          <p:nvPr>
            <p:ph type="title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</p:spPr>
        <p:txBody>
          <a:bodyPr/>
          <a:lstStyle>
            <a:lvl1pPr defTabSz="1612553">
              <a:defRPr spc="-199" sz="5500"/>
            </a:lvl1pPr>
          </a:lstStyle>
          <a:p>
            <a:pPr/>
            <a:r>
              <a:t>Risultati - Variabilità intersoggettiva</a:t>
            </a:r>
          </a:p>
        </p:txBody>
      </p:sp>
      <p:grpSp>
        <p:nvGrpSpPr>
          <p:cNvPr id="288" name="Raggruppa"/>
          <p:cNvGrpSpPr/>
          <p:nvPr/>
        </p:nvGrpSpPr>
        <p:grpSpPr>
          <a:xfrm>
            <a:off x="370283" y="1456828"/>
            <a:ext cx="12264236" cy="4461786"/>
            <a:chOff x="0" y="0"/>
            <a:chExt cx="12264234" cy="4461785"/>
          </a:xfrm>
        </p:grpSpPr>
        <p:pic>
          <p:nvPicPr>
            <p:cNvPr id="284" name="metrics_boxplot.png" descr="metrics_boxplot.pn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6795" r="20082" b="0"/>
            <a:stretch>
              <a:fillRect/>
            </a:stretch>
          </p:blipFill>
          <p:spPr>
            <a:xfrm>
              <a:off x="0" y="0"/>
              <a:ext cx="12264231" cy="397311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287" name="Title"/>
            <p:cNvGrpSpPr/>
            <p:nvPr/>
          </p:nvGrpSpPr>
          <p:grpSpPr>
            <a:xfrm>
              <a:off x="-1" y="4074715"/>
              <a:ext cx="12264236" cy="387071"/>
              <a:chOff x="0" y="0"/>
              <a:chExt cx="12264234" cy="387070"/>
            </a:xfrm>
          </p:grpSpPr>
          <p:sp>
            <p:nvSpPr>
              <p:cNvPr id="285" name="Rettangolo"/>
              <p:cNvSpPr/>
              <p:nvPr/>
            </p:nvSpPr>
            <p:spPr>
              <a:xfrm>
                <a:off x="0" y="0"/>
                <a:ext cx="12264235" cy="387071"/>
              </a:xfrm>
              <a:prstGeom prst="roundRect">
                <a:avLst>
                  <a:gd name="adj" fmla="val 0"/>
                </a:avLst>
              </a:prstGeom>
              <a:solidFill>
                <a:srgbClr val="000000">
                  <a:alpha val="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t">
                <a:noAutofit/>
              </a:bodyPr>
              <a:lstStyle/>
              <a:p>
                <a:pPr defTabSz="587022">
                  <a:lnSpc>
                    <a:spcPct val="100000"/>
                  </a:lnSpc>
                  <a:spcBef>
                    <a:spcPts val="0"/>
                  </a:spcBef>
                  <a:defRPr b="1" sz="1800"/>
                </a:pPr>
              </a:p>
            </p:txBody>
          </p:sp>
          <p:sp>
            <p:nvSpPr>
              <p:cNvPr id="286" name="Distribuzione Metriche per Fold - LOSO"/>
              <p:cNvSpPr txBox="1"/>
              <p:nvPr/>
            </p:nvSpPr>
            <p:spPr>
              <a:xfrm>
                <a:off x="-1" y="-1"/>
                <a:ext cx="12264236" cy="38707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defTabSz="587022">
                  <a:lnSpc>
                    <a:spcPct val="100000"/>
                  </a:lnSpc>
                  <a:spcBef>
                    <a:spcPts val="0"/>
                  </a:spcBef>
                  <a:defRPr b="1" sz="1800"/>
                </a:lvl1pPr>
              </a:lstStyle>
              <a:p>
                <a:pPr/>
                <a:r>
                  <a:t>							Distribuzione Metriche per Fold - LOSO</a:t>
                </a:r>
              </a:p>
            </p:txBody>
          </p:sp>
        </p:grpSp>
      </p:grpSp>
      <p:pic>
        <p:nvPicPr>
          <p:cNvPr id="289" name="metrics_boxplot.png" descr="metrics_boxplot.png"/>
          <p:cNvPicPr>
            <a:picLocks noChangeAspect="1"/>
          </p:cNvPicPr>
          <p:nvPr/>
        </p:nvPicPr>
        <p:blipFill>
          <a:blip r:embed="rId2">
            <a:extLst/>
          </a:blip>
          <a:srcRect l="79768" t="7733" r="0" b="0"/>
          <a:stretch>
            <a:fillRect/>
          </a:stretch>
        </p:blipFill>
        <p:spPr>
          <a:xfrm>
            <a:off x="419174" y="5617498"/>
            <a:ext cx="3136422" cy="3973292"/>
          </a:xfrm>
          <a:prstGeom prst="rect">
            <a:avLst/>
          </a:prstGeom>
          <a:ln w="12700">
            <a:miter lim="400000"/>
          </a:ln>
        </p:spPr>
      </p:pic>
      <p:pic>
        <p:nvPicPr>
          <p:cNvPr id="290" name="Immagine" descr="Immagin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347646" y="8122608"/>
            <a:ext cx="1461405" cy="1456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Interpretazione neuroscientifica - Feature Importance"/>
          <p:cNvSpPr txBox="1"/>
          <p:nvPr>
            <p:ph type="title"/>
          </p:nvPr>
        </p:nvSpPr>
        <p:spPr>
          <a:xfrm>
            <a:off x="698500" y="397932"/>
            <a:ext cx="11607800" cy="1537430"/>
          </a:xfrm>
          <a:prstGeom prst="rect">
            <a:avLst/>
          </a:prstGeom>
        </p:spPr>
        <p:txBody>
          <a:bodyPr/>
          <a:lstStyle>
            <a:lvl1pPr defTabSz="1092374">
              <a:defRPr spc="-200" sz="5100"/>
            </a:lvl1pPr>
          </a:lstStyle>
          <a:p>
            <a:pPr/>
            <a:r>
              <a:t>Interpretazione neuroscientifica - Feature Importance</a:t>
            </a:r>
          </a:p>
        </p:txBody>
      </p:sp>
      <p:pic>
        <p:nvPicPr>
          <p:cNvPr id="293" name="feature_importance.png" descr="feature_importance.png"/>
          <p:cNvPicPr>
            <a:picLocks noChangeAspect="1"/>
          </p:cNvPicPr>
          <p:nvPr/>
        </p:nvPicPr>
        <p:blipFill>
          <a:blip r:embed="rId2">
            <a:extLst/>
          </a:blip>
          <a:srcRect l="531" t="9242" r="50135" b="502"/>
          <a:stretch>
            <a:fillRect/>
          </a:stretch>
        </p:blipFill>
        <p:spPr>
          <a:xfrm>
            <a:off x="6907299" y="1303525"/>
            <a:ext cx="5926006" cy="4156545"/>
          </a:xfrm>
          <a:prstGeom prst="rect">
            <a:avLst/>
          </a:prstGeom>
          <a:ln w="12700">
            <a:miter lim="400000"/>
          </a:ln>
        </p:spPr>
      </p:pic>
      <p:pic>
        <p:nvPicPr>
          <p:cNvPr id="294" name="feature_importance.png" descr="feature_importance.png"/>
          <p:cNvPicPr>
            <a:picLocks noChangeAspect="1"/>
          </p:cNvPicPr>
          <p:nvPr/>
        </p:nvPicPr>
        <p:blipFill>
          <a:blip r:embed="rId2">
            <a:extLst/>
          </a:blip>
          <a:srcRect l="50018" t="9242" r="396" b="501"/>
          <a:stretch>
            <a:fillRect/>
          </a:stretch>
        </p:blipFill>
        <p:spPr>
          <a:xfrm>
            <a:off x="6877115" y="5451904"/>
            <a:ext cx="5956119" cy="4156476"/>
          </a:xfrm>
          <a:prstGeom prst="rect">
            <a:avLst/>
          </a:prstGeom>
          <a:ln w="12700">
            <a:miter lim="400000"/>
          </a:ln>
        </p:spPr>
      </p:pic>
      <p:sp>
        <p:nvSpPr>
          <p:cNvPr id="295" name="Corteccia Prefrontale (PFC)…"/>
          <p:cNvSpPr txBox="1"/>
          <p:nvPr/>
        </p:nvSpPr>
        <p:spPr>
          <a:xfrm>
            <a:off x="673566" y="1939089"/>
            <a:ext cx="6194149" cy="592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317500" indent="-317500">
              <a:spcBef>
                <a:spcPts val="700"/>
              </a:spcBef>
              <a:buSzPct val="123000"/>
              <a:buChar char="•"/>
              <a:defRPr b="1" sz="2600">
                <a:solidFill>
                  <a:srgbClr val="1B2A4A"/>
                </a:solidFill>
              </a:defRPr>
            </a:pPr>
            <a:r>
              <a:t>Corteccia Prefrontale (PFC)</a:t>
            </a:r>
          </a:p>
          <a:p>
            <a:pPr lvl="1" marL="698500" indent="-317500">
              <a:spcBef>
                <a:spcPts val="700"/>
              </a:spcBef>
              <a:buSzPct val="123000"/>
              <a:buChar char="•"/>
              <a:defRPr sz="2600"/>
            </a:pPr>
            <a:r>
              <a:t>Risk Assessment &amp; elaborazione del reward</a:t>
            </a:r>
          </a:p>
          <a:p>
            <a:pPr marL="317500" indent="-317500">
              <a:spcBef>
                <a:spcPts val="1200"/>
              </a:spcBef>
              <a:buSzPct val="123000"/>
              <a:buChar char="•"/>
              <a:defRPr b="1" sz="2600">
                <a:solidFill>
                  <a:srgbClr val="1B2A4A"/>
                </a:solidFill>
              </a:defRPr>
            </a:pPr>
            <a:r>
              <a:t>Onde lente (Theta &amp; Delta) pre-decisionali</a:t>
            </a:r>
          </a:p>
          <a:p>
            <a:pPr lvl="1" marL="698500" indent="-317500">
              <a:spcBef>
                <a:spcPts val="700"/>
              </a:spcBef>
              <a:buSzPct val="123000"/>
              <a:buChar char="•"/>
              <a:defRPr sz="2600"/>
            </a:pPr>
            <a:r>
              <a:t>Substrato neurale della gestione dell’incertezza</a:t>
            </a:r>
          </a:p>
          <a:p>
            <a:pPr lvl="1" marL="698500" indent="-317500">
              <a:spcBef>
                <a:spcPts val="700"/>
              </a:spcBef>
              <a:buSzPct val="123000"/>
              <a:buChar char="•"/>
              <a:defRPr sz="2600"/>
            </a:pPr>
            <a:r>
              <a:t>Reclutamento del controllo cognitivo</a:t>
            </a:r>
          </a:p>
          <a:p>
            <a:pPr marL="317500" indent="-317500">
              <a:spcBef>
                <a:spcPts val="1200"/>
              </a:spcBef>
              <a:buSzPct val="123000"/>
              <a:buChar char="•"/>
              <a:defRPr b="1" sz="2600">
                <a:solidFill>
                  <a:srgbClr val="1B2A4A"/>
                </a:solidFill>
              </a:defRPr>
            </a:pPr>
            <a:r>
              <a:t>Somatic Marker Hypothesis (Damasio)</a:t>
            </a:r>
          </a:p>
          <a:p>
            <a:pPr lvl="1" marL="698500" indent="-317500">
              <a:spcBef>
                <a:spcPts val="700"/>
              </a:spcBef>
              <a:buSzPct val="123000"/>
              <a:buChar char="•"/>
              <a:defRPr sz="2600"/>
            </a:pPr>
            <a:r>
              <a:t>Stato somatico emotivo guida la scelta prima della deliberazione consapevole</a:t>
            </a:r>
          </a:p>
        </p:txBody>
      </p:sp>
      <p:pic>
        <p:nvPicPr>
          <p:cNvPr id="296" name="Immagine" descr="Immagin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66700" y="8122608"/>
            <a:ext cx="1461405" cy="1456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Confronto con il paper originale"/>
          <p:cNvSpPr txBox="1"/>
          <p:nvPr>
            <p:ph type="title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</p:spPr>
        <p:txBody>
          <a:bodyPr/>
          <a:lstStyle>
            <a:lvl1pPr defTabSz="1716589">
              <a:defRPr spc="-200" sz="5900"/>
            </a:lvl1pPr>
          </a:lstStyle>
          <a:p>
            <a:pPr/>
            <a:r>
              <a:t>Confronto con il paper originale</a:t>
            </a:r>
          </a:p>
        </p:txBody>
      </p:sp>
      <p:pic>
        <p:nvPicPr>
          <p:cNvPr id="299" name="filmato-incollato.png" descr="filmato-incollat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2095" y="2253320"/>
            <a:ext cx="11860731" cy="45652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00" name="Immagine" descr="Immagin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347646" y="8122608"/>
            <a:ext cx="1461405" cy="1456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Confronto con il paper origina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16589">
              <a:defRPr spc="-200" sz="5900"/>
            </a:lvl1pPr>
          </a:lstStyle>
          <a:p>
            <a:pPr/>
            <a:r>
              <a:t>Risultati ML e Interpretazione</a:t>
            </a:r>
          </a:p>
        </p:txBody>
      </p:sp>
      <p:pic>
        <p:nvPicPr>
          <p:cNvPr id="303" name="Immagine" descr="Immagin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347646" y="8122608"/>
            <a:ext cx="1461405" cy="1456401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304" name="Tabella 1"/>
          <p:cNvGraphicFramePr/>
          <p:nvPr/>
        </p:nvGraphicFramePr>
        <p:xfrm>
          <a:off x="788182" y="2414214"/>
          <a:ext cx="11803723" cy="4522064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{2708684C-4D16-4618-839F-0558EEFCDFE6}</a:tableStyleId>
              </a:tblPr>
              <a:tblGrid>
                <a:gridCol w="3930340"/>
                <a:gridCol w="3930340"/>
                <a:gridCol w="3930340"/>
              </a:tblGrid>
              <a:tr h="577338">
                <a:tc>
                  <a:txBody>
                    <a:bodyPr/>
                    <a:lstStyle/>
                    <a:p>
                      <a:pPr indent="457200">
                        <a:defRPr b="0" sz="1800"/>
                      </a:pPr>
                      <a:r>
                        <a:rPr b="1" sz="1900"/>
                        <a:t>Modello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E7E6E3"/>
                      </a:solidFill>
                      <a:miter lim="400000"/>
                    </a:lnL>
                    <a:lnR w="12700">
                      <a:solidFill>
                        <a:srgbClr val="E9E8E6"/>
                      </a:solidFill>
                    </a:lnR>
                    <a:lnT w="12700">
                      <a:solidFill>
                        <a:srgbClr val="E7E6E3"/>
                      </a:solidFill>
                      <a:miter lim="400000"/>
                    </a:lnT>
                    <a:lnB w="25400">
                      <a:solidFill>
                        <a:srgbClr val="E9E8E6"/>
                      </a:solidFill>
                    </a:lnB>
                    <a:solidFill>
                      <a:srgbClr val="F7F6F3"/>
                    </a:solidFill>
                  </a:tcPr>
                </a:tc>
                <a:tc>
                  <a:txBody>
                    <a:bodyPr/>
                    <a:lstStyle/>
                    <a:p>
                      <a:pPr indent="457200">
                        <a:defRPr b="0" sz="1800"/>
                      </a:pPr>
                      <a:r>
                        <a:rPr b="1" sz="1900"/>
                        <a:t>Accuracy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E9E8E6"/>
                      </a:solidFill>
                    </a:lnL>
                    <a:lnR w="12700">
                      <a:solidFill>
                        <a:srgbClr val="E9E8E6"/>
                      </a:solidFill>
                    </a:lnR>
                    <a:lnT w="12700">
                      <a:solidFill>
                        <a:srgbClr val="E7E6E3"/>
                      </a:solidFill>
                      <a:miter lim="400000"/>
                    </a:lnT>
                    <a:lnB w="25400">
                      <a:solidFill>
                        <a:srgbClr val="E9E8E6"/>
                      </a:solidFill>
                    </a:lnB>
                    <a:solidFill>
                      <a:srgbClr val="F7F6F3"/>
                    </a:solidFill>
                  </a:tcPr>
                </a:tc>
                <a:tc>
                  <a:txBody>
                    <a:bodyPr/>
                    <a:lstStyle/>
                    <a:p>
                      <a:pPr indent="457200">
                        <a:defRPr b="0" sz="1800"/>
                      </a:pPr>
                      <a:r>
                        <a:rPr b="1" sz="1900"/>
                        <a:t>AUC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E9E8E6"/>
                      </a:solidFill>
                    </a:lnL>
                    <a:lnR w="12700">
                      <a:solidFill>
                        <a:srgbClr val="E7E6E3"/>
                      </a:solidFill>
                      <a:miter lim="400000"/>
                    </a:lnR>
                    <a:lnT w="12700">
                      <a:solidFill>
                        <a:srgbClr val="E7E6E3"/>
                      </a:solidFill>
                      <a:miter lim="400000"/>
                    </a:lnT>
                    <a:lnB w="25400">
                      <a:solidFill>
                        <a:srgbClr val="E9E8E6"/>
                      </a:solidFill>
                    </a:lnB>
                    <a:solidFill>
                      <a:srgbClr val="F7F6F3"/>
                    </a:solidFill>
                  </a:tcPr>
                </a:tc>
              </a:tr>
              <a:tr h="621650">
                <a:tc>
                  <a:txBody>
                    <a:bodyPr/>
                    <a:lstStyle/>
                    <a:p>
                      <a:pPr indent="457200">
                        <a:defRPr b="0" sz="1800"/>
                      </a:pPr>
                      <a:r>
                        <a:rPr b="1" sz="1900"/>
                        <a:t>Logistic Regression
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E7E6E3"/>
                      </a:solidFill>
                      <a:miter lim="400000"/>
                    </a:lnL>
                    <a:lnR w="12700">
                      <a:solidFill>
                        <a:srgbClr val="E9E8E6"/>
                      </a:solidFill>
                    </a:lnR>
                    <a:lnT w="25400">
                      <a:solidFill>
                        <a:srgbClr val="E9E8E6"/>
                      </a:solidFill>
                    </a:lnT>
                    <a:lnB w="12700">
                      <a:solidFill>
                        <a:srgbClr val="E9E8E6"/>
                      </a:solidFill>
                    </a:lnB>
                    <a:solidFill>
                      <a:srgbClr val="F7F6F3"/>
                    </a:solidFill>
                  </a:tcPr>
                </a:tc>
                <a:tc>
                  <a:txBody>
                    <a:bodyPr/>
                    <a:lstStyle/>
                    <a:p>
                      <a:pPr indent="457200">
                        <a:defRPr sz="1800"/>
                      </a:pPr>
                      <a:r>
                        <a:rPr sz="1900"/>
                        <a:t>0,52 ± 0,10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E9E8E6"/>
                      </a:solidFill>
                    </a:lnL>
                    <a:lnR w="12700">
                      <a:solidFill>
                        <a:srgbClr val="E9E8E6"/>
                      </a:solidFill>
                    </a:lnR>
                    <a:lnT w="25400">
                      <a:solidFill>
                        <a:srgbClr val="E9E8E6"/>
                      </a:solidFill>
                    </a:lnT>
                    <a:lnB w="12700">
                      <a:solidFill>
                        <a:srgbClr val="E9E8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457200">
                        <a:defRPr sz="1800"/>
                      </a:pPr>
                      <a:r>
                        <a:rPr sz="1900"/>
                        <a:t>0,55 ± 0,06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E9E8E6"/>
                      </a:solidFill>
                    </a:lnL>
                    <a:lnR w="12700">
                      <a:solidFill>
                        <a:srgbClr val="E7E6E3"/>
                      </a:solidFill>
                      <a:miter lim="400000"/>
                    </a:lnR>
                    <a:lnT w="25400">
                      <a:solidFill>
                        <a:srgbClr val="E9E8E6"/>
                      </a:solidFill>
                    </a:lnT>
                    <a:lnB w="12700">
                      <a:solidFill>
                        <a:srgbClr val="E9E8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4467">
                <a:tc>
                  <a:txBody>
                    <a:bodyPr/>
                    <a:lstStyle/>
                    <a:p>
                      <a:pPr indent="457200">
                        <a:defRPr b="0" sz="1800"/>
                      </a:pPr>
                      <a:r>
                        <a:rPr b="1" sz="1900"/>
                        <a:t>SVM (RBF)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E7E6E3"/>
                      </a:solidFill>
                      <a:miter lim="400000"/>
                    </a:lnL>
                    <a:lnR w="12700">
                      <a:solidFill>
                        <a:srgbClr val="E9E8E6"/>
                      </a:solidFill>
                    </a:lnR>
                    <a:lnT w="12700">
                      <a:solidFill>
                        <a:srgbClr val="E9E8E6"/>
                      </a:solidFill>
                    </a:lnT>
                    <a:lnB w="12700">
                      <a:solidFill>
                        <a:srgbClr val="E9E8E6"/>
                      </a:solidFill>
                    </a:lnB>
                    <a:solidFill>
                      <a:srgbClr val="F7F6F3"/>
                    </a:solidFill>
                  </a:tcPr>
                </a:tc>
                <a:tc>
                  <a:txBody>
                    <a:bodyPr/>
                    <a:lstStyle/>
                    <a:p>
                      <a:pPr indent="457200">
                        <a:defRPr sz="1800"/>
                      </a:pPr>
                      <a:r>
                        <a:rPr sz="1900"/>
                        <a:t>0,52 ± 0,10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E9E8E6"/>
                      </a:solidFill>
                    </a:lnL>
                    <a:lnR w="12700">
                      <a:solidFill>
                        <a:srgbClr val="E9E8E6"/>
                      </a:solidFill>
                    </a:lnR>
                    <a:lnT w="12700">
                      <a:solidFill>
                        <a:srgbClr val="E9E8E6"/>
                      </a:solidFill>
                    </a:lnT>
                    <a:lnB w="12700">
                      <a:solidFill>
                        <a:srgbClr val="E9E8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457200">
                        <a:defRPr sz="1800"/>
                      </a:pPr>
                      <a:r>
                        <a:rPr sz="1900"/>
                        <a:t>0,55 ± 0,07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E9E8E6"/>
                      </a:solidFill>
                    </a:lnL>
                    <a:lnR w="12700">
                      <a:solidFill>
                        <a:srgbClr val="E7E6E3"/>
                      </a:solidFill>
                      <a:miter lim="400000"/>
                    </a:lnR>
                    <a:lnT w="12700">
                      <a:solidFill>
                        <a:srgbClr val="E9E8E6"/>
                      </a:solidFill>
                    </a:lnT>
                    <a:lnB w="12700">
                      <a:solidFill>
                        <a:srgbClr val="E9E8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1876">
                <a:tc>
                  <a:txBody>
                    <a:bodyPr/>
                    <a:lstStyle/>
                    <a:p>
                      <a:pPr indent="457200">
                        <a:defRPr b="0" sz="1800"/>
                      </a:pPr>
                      <a:r>
                        <a:rPr b="1" sz="1900"/>
                        <a:t>Random Forest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E7E6E3"/>
                      </a:solidFill>
                      <a:miter lim="400000"/>
                    </a:lnL>
                    <a:lnR w="12700">
                      <a:solidFill>
                        <a:srgbClr val="E9E8E6"/>
                      </a:solidFill>
                    </a:lnR>
                    <a:lnT w="12700">
                      <a:solidFill>
                        <a:srgbClr val="E9E8E6"/>
                      </a:solidFill>
                    </a:lnT>
                    <a:lnB w="12700">
                      <a:solidFill>
                        <a:srgbClr val="E7E6E3"/>
                      </a:solidFill>
                      <a:miter lim="400000"/>
                    </a:lnB>
                    <a:solidFill>
                      <a:srgbClr val="F7F6F3"/>
                    </a:solidFill>
                  </a:tcPr>
                </a:tc>
                <a:tc>
                  <a:txBody>
                    <a:bodyPr/>
                    <a:lstStyle/>
                    <a:p>
                      <a:pPr indent="457200">
                        <a:defRPr sz="1800"/>
                      </a:pPr>
                      <a:r>
                        <a:rPr sz="1900"/>
                        <a:t>0,52 ± 0,09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E9E8E6"/>
                      </a:solidFill>
                    </a:lnL>
                    <a:lnR w="12700">
                      <a:solidFill>
                        <a:srgbClr val="E9E8E6"/>
                      </a:solidFill>
                    </a:lnR>
                    <a:lnT w="12700">
                      <a:solidFill>
                        <a:srgbClr val="E9E8E6"/>
                      </a:solidFill>
                    </a:lnT>
                    <a:lnB w="12700">
                      <a:solidFill>
                        <a:srgbClr val="E7E6E3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457200">
                        <a:defRPr sz="1800"/>
                      </a:pPr>
                      <a:r>
                        <a:rPr sz="1900"/>
                        <a:t>0,54 ± 0,06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E9E8E6"/>
                      </a:solidFill>
                    </a:lnL>
                    <a:lnR w="12700">
                      <a:solidFill>
                        <a:srgbClr val="E7E6E3"/>
                      </a:solidFill>
                      <a:miter lim="400000"/>
                    </a:lnR>
                    <a:lnT w="12700">
                      <a:solidFill>
                        <a:srgbClr val="E9E8E6"/>
                      </a:solidFill>
                    </a:lnT>
                    <a:lnB w="12700">
                      <a:solidFill>
                        <a:srgbClr val="E7E6E3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5" name="Il paper di riferimento (Chávez-Sánchez et al., 2026) è un data descriptor il cui scopo è descrivere il dataset, non proporre un sistema di classificazione: non esiste quindi un benchmark di confronto.…"/>
          <p:cNvSpPr txBox="1"/>
          <p:nvPr>
            <p:ph type="body" sz="half" idx="1"/>
          </p:nvPr>
        </p:nvSpPr>
        <p:spPr>
          <a:xfrm>
            <a:off x="507999" y="5085014"/>
            <a:ext cx="11607801" cy="3265059"/>
          </a:xfrm>
          <a:prstGeom prst="rect">
            <a:avLst/>
          </a:prstGeom>
        </p:spPr>
        <p:txBody>
          <a:bodyPr/>
          <a:lstStyle/>
          <a:p>
            <a:pPr marL="285750" indent="-285750" defTabSz="1300447">
              <a:spcBef>
                <a:spcPts val="2400"/>
              </a:spcBef>
              <a:defRPr sz="2250"/>
            </a:pPr>
            <a:r>
              <a:t>Il paper di riferimento (Chávez-Sánchez et al., 2026) è un </a:t>
            </a:r>
            <a:r>
              <a:rPr i="1"/>
              <a:t>data descriptor</a:t>
            </a:r>
            <a:r>
              <a:t> il cui scopo è descrivere il dataset, non proporre un sistema di classificazione: non esiste quindi un benchmark di confronto.</a:t>
            </a:r>
          </a:p>
          <a:p>
            <a:pPr marL="285750" indent="-285750" defTabSz="1300447">
              <a:spcBef>
                <a:spcPts val="2400"/>
              </a:spcBef>
              <a:defRPr sz="2250"/>
            </a:pPr>
            <a:r>
              <a:t>La letteratura EEG-IGT su soggetti sani mostra che i pattern neurali legati alle decisioni emergono nel dominio del tempo come potenziali evento-correlati, non nella potenza spettrale (Bianchin &amp; Angrilli, 2011; Balconi &amp; Angioletti, 2022).</a:t>
            </a:r>
          </a:p>
          <a:p>
            <a:pPr marL="285750" indent="-285750" defTabSz="1300447">
              <a:spcBef>
                <a:spcPts val="2400"/>
              </a:spcBef>
              <a:defRPr sz="2250"/>
            </a:pPr>
            <a:r>
              <a:t>Un'accuracy trial-by-trial attorno al 52–58% è pertanto attesa e coerente con lo stato dell'arte. La direzione futura più promettente rimane l'analisi ERP sui canali frontali.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Limitazioni"/>
          <p:cNvSpPr txBox="1"/>
          <p:nvPr>
            <p:ph type="title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</p:spPr>
        <p:txBody>
          <a:bodyPr/>
          <a:lstStyle>
            <a:lvl1pPr defTabSz="1716589">
              <a:defRPr spc="-200" sz="5900"/>
            </a:lvl1pPr>
          </a:lstStyle>
          <a:p>
            <a:pPr/>
            <a:r>
              <a:t>Limitazioni</a:t>
            </a:r>
          </a:p>
        </p:txBody>
      </p:sp>
      <p:sp>
        <p:nvSpPr>
          <p:cNvPr id="308" name="Rettangolo arrotondato"/>
          <p:cNvSpPr/>
          <p:nvPr/>
        </p:nvSpPr>
        <p:spPr>
          <a:xfrm>
            <a:off x="681684" y="1581505"/>
            <a:ext cx="11974211" cy="3214971"/>
          </a:xfrm>
          <a:prstGeom prst="roundRect">
            <a:avLst>
              <a:gd name="adj" fmla="val 16031"/>
            </a:avLst>
          </a:prstGeom>
          <a:ln w="50800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9" name="Canali auricolari A1/A2 tra le feature importanti"/>
          <p:cNvSpPr txBox="1"/>
          <p:nvPr/>
        </p:nvSpPr>
        <p:spPr>
          <a:xfrm>
            <a:off x="969115" y="1713675"/>
            <a:ext cx="8655940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/>
            </a:lvl1pPr>
          </a:lstStyle>
          <a:p>
            <a:pPr/>
            <a:r>
              <a:t>Canali auricolari A1/A2 tra le feature importanti</a:t>
            </a:r>
          </a:p>
        </p:txBody>
      </p:sp>
      <p:sp>
        <p:nvSpPr>
          <p:cNvPr id="310" name="Nonostante CAR e ICA a 15 componenti, l'analisi RF individua residui spettrali su A1/A2.…"/>
          <p:cNvSpPr txBox="1"/>
          <p:nvPr/>
        </p:nvSpPr>
        <p:spPr>
          <a:xfrm>
            <a:off x="839575" y="2360633"/>
            <a:ext cx="11658428" cy="2255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317500" indent="-317500">
              <a:spcBef>
                <a:spcPts val="1600"/>
              </a:spcBef>
              <a:buSzPct val="123000"/>
              <a:buChar char="•"/>
              <a:defRPr sz="2500"/>
            </a:pPr>
            <a:r>
              <a:t>Nonostante CAR e ICA a 15 componenti, l'analisi RF individua residui spettrali su A1/A2. </a:t>
            </a:r>
          </a:p>
          <a:p>
            <a:pPr marL="317500" indent="-317500">
              <a:spcBef>
                <a:spcPts val="1600"/>
              </a:spcBef>
              <a:buSzPct val="123000"/>
              <a:buChar char="•"/>
              <a:defRPr sz="2500"/>
            </a:pPr>
            <a:r>
              <a:t>Limite intrinseco del dataset: il paper originale li documenta come possibili sorgenti di artefatti non completamente eliminabili.</a:t>
            </a:r>
          </a:p>
          <a:p>
            <a:pPr marL="317500" indent="-317500">
              <a:spcBef>
                <a:spcPts val="1600"/>
              </a:spcBef>
              <a:buSzPct val="123000"/>
              <a:buChar char="•"/>
              <a:defRPr sz="2500"/>
            </a:pPr>
            <a:r>
              <a:t>La pipeline rimane inalterata per garantire integrità e riproducibilità.</a:t>
            </a:r>
          </a:p>
        </p:txBody>
      </p:sp>
      <p:sp>
        <p:nvSpPr>
          <p:cNvPr id="311" name="Rettangolo arrotondato"/>
          <p:cNvSpPr/>
          <p:nvPr/>
        </p:nvSpPr>
        <p:spPr>
          <a:xfrm>
            <a:off x="681684" y="4985213"/>
            <a:ext cx="11974211" cy="2687723"/>
          </a:xfrm>
          <a:prstGeom prst="roundRect">
            <a:avLst>
              <a:gd name="adj" fmla="val 19176"/>
            </a:avLst>
          </a:prstGeom>
          <a:ln w="50800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2" name="Campione demograficamente ristretto"/>
          <p:cNvSpPr txBox="1"/>
          <p:nvPr/>
        </p:nvSpPr>
        <p:spPr>
          <a:xfrm>
            <a:off x="969115" y="5117383"/>
            <a:ext cx="7061455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/>
            </a:lvl1pPr>
          </a:lstStyle>
          <a:p>
            <a:pPr/>
            <a:r>
              <a:t>Campione demograficamente ristretto</a:t>
            </a:r>
          </a:p>
        </p:txBody>
      </p:sp>
      <p:sp>
        <p:nvSpPr>
          <p:cNvPr id="313" name="59 partecipanti, tutti studenti universitari di soli due indirizzi (Ingegneria e Scienze Motorie), età media ~21 anni…"/>
          <p:cNvSpPr txBox="1"/>
          <p:nvPr/>
        </p:nvSpPr>
        <p:spPr>
          <a:xfrm>
            <a:off x="839575" y="5738558"/>
            <a:ext cx="11658428" cy="1708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317500" indent="-317500">
              <a:spcBef>
                <a:spcPts val="1600"/>
              </a:spcBef>
              <a:buSzPct val="123000"/>
              <a:buChar char="•"/>
              <a:defRPr sz="2500"/>
            </a:pPr>
            <a:r>
              <a:t>59 partecipanti, tutti studenti universitari di soli due indirizzi (Ingegneria e Scienze Motorie), età media ~21 anni</a:t>
            </a:r>
          </a:p>
          <a:p>
            <a:pPr marL="317500" indent="-317500">
              <a:spcBef>
                <a:spcPts val="1600"/>
              </a:spcBef>
              <a:buSzPct val="123000"/>
              <a:buChar char="•"/>
              <a:defRPr sz="2500"/>
            </a:pPr>
            <a:r>
              <a:t>La generalizzabilità a popolazioni più ampie non è garantita come riconosciuto anche dagli stessi autori del dataset.</a:t>
            </a:r>
          </a:p>
        </p:txBody>
      </p:sp>
      <p:pic>
        <p:nvPicPr>
          <p:cNvPr id="314" name="Immagine" descr="Immagin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347646" y="8122608"/>
            <a:ext cx="1461405" cy="1456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Immagine" descr="Immagin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347646" y="8122608"/>
            <a:ext cx="1461405" cy="1456401"/>
          </a:xfrm>
          <a:prstGeom prst="rect">
            <a:avLst/>
          </a:prstGeom>
          <a:ln w="12700">
            <a:miter lim="400000"/>
          </a:ln>
        </p:spPr>
      </p:pic>
      <p:sp>
        <p:nvSpPr>
          <p:cNvPr id="317" name="Pipeline End-to-End Rigorosa: Sviluppo di un'infrastruttura completa, dal segnale EEG grezzo alla classificazione single-trial, replicabile e priva di data leakage.…"/>
          <p:cNvSpPr txBox="1"/>
          <p:nvPr>
            <p:ph type="body" idx="1"/>
          </p:nvPr>
        </p:nvSpPr>
        <p:spPr>
          <a:xfrm>
            <a:off x="698500" y="1545761"/>
            <a:ext cx="11850224" cy="7797339"/>
          </a:xfrm>
          <a:prstGeom prst="rect">
            <a:avLst/>
          </a:prstGeom>
        </p:spPr>
        <p:txBody>
          <a:bodyPr/>
          <a:lstStyle/>
          <a:p>
            <a:pPr marL="380999" indent="-380999">
              <a:buFont typeface="Times Roman"/>
              <a:defRPr b="1" sz="2700"/>
            </a:pPr>
            <a:r>
              <a:t>Pipeline End-to-End Rigorosa:</a:t>
            </a:r>
            <a:r>
              <a:rPr b="0"/>
              <a:t> Sviluppo di un'infrastruttura completa, dal segnale EEG grezzo alla classificazione </a:t>
            </a:r>
            <a:r>
              <a:rPr b="0" i="1"/>
              <a:t>single-trial</a:t>
            </a:r>
            <a:r>
              <a:rPr b="0"/>
              <a:t>, replicabile e priva di </a:t>
            </a:r>
            <a:r>
              <a:rPr b="0" i="1"/>
              <a:t>data leakage</a:t>
            </a:r>
            <a:r>
              <a:rPr b="0"/>
              <a:t>.</a:t>
            </a:r>
          </a:p>
          <a:p>
            <a:pPr marL="380999" indent="-380999">
              <a:buFont typeface="Times Roman"/>
              <a:defRPr b="1" sz="2700"/>
            </a:pPr>
            <a:r>
              <a:t>Validazione Generica Universale:</a:t>
            </a:r>
            <a:r>
              <a:rPr b="0"/>
              <a:t> Il valore di AUC&gt;0.50 ottenuto in cross-validazione </a:t>
            </a:r>
            <a:r>
              <a:t>LOSO</a:t>
            </a:r>
            <a:r>
              <a:rPr b="0"/>
              <a:t> dimostra l'estrazione di predittori neurali indipendenti dal soggetto (generalizzabilità </a:t>
            </a:r>
            <a:r>
              <a:rPr b="0" i="1"/>
              <a:t>cross-subject</a:t>
            </a:r>
            <a:r>
              <a:rPr b="0"/>
              <a:t>).</a:t>
            </a:r>
          </a:p>
          <a:p>
            <a:pPr marL="380999" indent="-380999">
              <a:buFont typeface="Times Roman"/>
              <a:defRPr b="1" sz="2700"/>
            </a:pPr>
            <a:r>
              <a:t>Conferma Neurofisiologica:</a:t>
            </a:r>
            <a:r>
              <a:rPr b="0"/>
              <a:t> La dominanza delle feature frontali nelle bande Delta e Theta convalida sperimentalmente il ruolo della Corteccia Prefrontale (PFC) e la </a:t>
            </a:r>
            <a:r>
              <a:rPr b="0" i="1"/>
              <a:t>Somatic Marker Hypothesis</a:t>
            </a:r>
            <a:r>
              <a:rPr b="0"/>
              <a:t>.</a:t>
            </a:r>
          </a:p>
          <a:p>
            <a:pPr marL="380999" indent="-380999">
              <a:buFont typeface="Times Roman"/>
              <a:defRPr b="1" sz="2700"/>
            </a:pPr>
            <a:r>
              <a:t>Impatto Traslazionale:</a:t>
            </a:r>
            <a:r>
              <a:rPr b="0"/>
              <a:t> Il progetto funge da </a:t>
            </a:r>
            <a:r>
              <a:rPr b="0" i="1"/>
              <a:t>proof-of-concept</a:t>
            </a:r>
            <a:r>
              <a:rPr b="0"/>
              <a:t> per lo sviluppo di futuri sistemi BCI (Brain-Computer Interface) applicati al supporto decisionale in contesti emotivi e di incertezza.</a:t>
            </a:r>
          </a:p>
          <a:p>
            <a:pPr marL="380999" indent="-380999">
              <a:buFont typeface="Times Roman"/>
              <a:defRPr b="1" sz="2700"/>
            </a:pPr>
            <a:r>
              <a:t>Open Science:</a:t>
            </a:r>
            <a:r>
              <a:rPr b="0"/>
              <a:t> Codice sorgente e pipeline interamente documentati </a:t>
            </a:r>
            <a:br>
              <a:rPr b="0"/>
            </a:br>
            <a:r>
              <a:rPr b="0"/>
              <a:t>su repository pubblica per garantire la totale riproducibilità dei </a:t>
            </a:r>
            <a:br>
              <a:rPr b="0"/>
            </a:br>
            <a:r>
              <a:rPr b="0"/>
              <a:t>risultati.</a:t>
            </a:r>
          </a:p>
        </p:txBody>
      </p:sp>
      <p:sp>
        <p:nvSpPr>
          <p:cNvPr id="318" name="Conclusioni"/>
          <p:cNvSpPr txBox="1"/>
          <p:nvPr>
            <p:ph type="title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</p:spPr>
        <p:txBody>
          <a:bodyPr/>
          <a:lstStyle>
            <a:lvl1pPr defTabSz="1716589">
              <a:defRPr spc="-200" sz="5900"/>
            </a:lvl1pPr>
          </a:lstStyle>
          <a:p>
            <a:pPr/>
            <a:r>
              <a:t>Conclusioni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Immagine" descr="Immagin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347646" y="8122608"/>
            <a:ext cx="1461405" cy="1456401"/>
          </a:xfrm>
          <a:prstGeom prst="rect">
            <a:avLst/>
          </a:prstGeom>
          <a:ln w="12700">
            <a:miter lim="400000"/>
          </a:ln>
        </p:spPr>
      </p:pic>
      <p:sp>
        <p:nvSpPr>
          <p:cNvPr id="321" name="Chávez-Sánchez, M., Torres-Ramos, S., Román-Godínez, I. et al. Behavioral and electroencephalographic dataset simultaneously acquired during the Iowa gambling task. Sci Data 13, 359 (2026). https://doi.org/10.1038/s41597-026-06662-0…"/>
          <p:cNvSpPr txBox="1"/>
          <p:nvPr>
            <p:ph type="body" idx="1"/>
          </p:nvPr>
        </p:nvSpPr>
        <p:spPr>
          <a:xfrm>
            <a:off x="698500" y="1560709"/>
            <a:ext cx="11764765" cy="7788080"/>
          </a:xfrm>
          <a:prstGeom prst="rect">
            <a:avLst/>
          </a:prstGeom>
        </p:spPr>
        <p:txBody>
          <a:bodyPr/>
          <a:lstStyle/>
          <a:p>
            <a:pPr marL="373379" indent="-373379" defTabSz="1699250">
              <a:spcBef>
                <a:spcPts val="3100"/>
              </a:spcBef>
              <a:defRPr sz="2200"/>
            </a:pPr>
            <a:r>
              <a:t>Chávez-Sánchez, M., Torres-Ramos, S., Román-Godínez, I. </a:t>
            </a:r>
            <a:r>
              <a:rPr i="1"/>
              <a:t>et al.</a:t>
            </a:r>
            <a:r>
              <a:t> Behavioral and electroencephalographic dataset simultaneously acquired during the Iowa gambling task. </a:t>
            </a:r>
            <a:r>
              <a:rPr i="1"/>
              <a:t>Sci Data</a:t>
            </a:r>
            <a:r>
              <a:t> </a:t>
            </a:r>
            <a:r>
              <a:rPr b="1"/>
              <a:t>13</a:t>
            </a:r>
            <a:r>
              <a:t>, 359 (2026).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 invalidUrl="" action="" tgtFrame="" tooltip="" history="1" highlightClick="0" endSnd="0"/>
              </a:rPr>
              <a:t>https://doi.org/10.1038/s41597-026-06662-0</a:t>
            </a:r>
          </a:p>
          <a:p>
            <a:pPr marL="373379" indent="-373379" defTabSz="1699250">
              <a:spcBef>
                <a:spcPts val="3100"/>
              </a:spcBef>
              <a:defRPr sz="2200"/>
            </a:pPr>
            <a:r>
              <a:t>Bechara A, Damasio AR, Damasio H, Anderson SW. Insensitivity to future consequences following damage to human prefrontal cortex. Cognition. 1994 Apr-Jun;50(1-3):7-15. doi: 10.1016/0010-0277(94)90018-3. PMID: 8039375.</a:t>
            </a:r>
          </a:p>
          <a:p>
            <a:pPr marL="373379" indent="-373379" defTabSz="1699250">
              <a:spcBef>
                <a:spcPts val="3100"/>
              </a:spcBef>
              <a:defRPr sz="2200"/>
            </a:pPr>
            <a:r>
              <a:t>Cui JF, Chen YH, Wang Y, Shum DH, Chan RC. Neural correlates of uncertain decision making: ERP evidence from the Iowa Gambling Task. Front Hum Neurosci. 2013 Nov 15;7:776. doi: 10.3389/fnhum.2013.00776. PMID: 24298248; PMCID: PMC3828619.</a:t>
            </a:r>
          </a:p>
          <a:p>
            <a:pPr marL="373379" indent="-373379" defTabSz="1699250">
              <a:spcBef>
                <a:spcPts val="3100"/>
              </a:spcBef>
              <a:defRPr sz="2200"/>
            </a:pPr>
            <a:r>
              <a:t>Bianchin M, Angrilli A. Decision Preceding Negativity in the Iowa Gambling Task: an ERP study. Brain Cogn. 2011 Apr;75(3):273-80. doi: 10.1016/j.bandc.2011.01.005. PMID: 21306813.</a:t>
            </a:r>
          </a:p>
          <a:p>
            <a:pPr marL="373379" indent="-373379" defTabSz="1699250">
              <a:spcBef>
                <a:spcPts val="3100"/>
              </a:spcBef>
              <a:defRPr sz="2200"/>
            </a:pPr>
            <a:r>
              <a:t>Steingroever, H., Fridberg, D. J., Horstmann, A., Kjome, K., Kumari, V., Lane, S. D., Maia, T. V., McClelland, J. L., Pachur, T., Premkumar, P., Stout, J. C., Wetzels, R., Wood, S., Worthy, D. A., &amp; Wagenmakers, E.-J. (2015). Data from 617 healthy participants performing the Iowa Gambling Task: A "many labs" collaboration. Journal of Open Psychology Data, 3(e5), 1 - 6.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 invalidUrl="" action="" tgtFrame="" tooltip="" history="1" highlightClick="0" endSnd="0"/>
              </a:rPr>
              <a:t>https://doi.org/10.5334/jopd.ak</a:t>
            </a:r>
          </a:p>
          <a:p>
            <a:pPr marL="373379" indent="-373379" defTabSz="1699250">
              <a:spcBef>
                <a:spcPts val="3100"/>
              </a:spcBef>
              <a:defRPr sz="2200"/>
            </a:pPr>
            <a:r>
              <a:t>Dataset: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5" invalidUrl="" action="" tgtFrame="" tooltip="" history="1" highlightClick="0" endSnd="0"/>
              </a:rPr>
              <a:t>https://data.mendeley.com/datasets/2pw2m39yct/2</a:t>
            </a:r>
          </a:p>
        </p:txBody>
      </p:sp>
      <p:sp>
        <p:nvSpPr>
          <p:cNvPr id="322" name="Bibliografia"/>
          <p:cNvSpPr txBox="1"/>
          <p:nvPr>
            <p:ph type="title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</p:spPr>
        <p:txBody>
          <a:bodyPr/>
          <a:lstStyle>
            <a:lvl1pPr defTabSz="1716589">
              <a:defRPr spc="-200" sz="5900"/>
            </a:lvl1pPr>
          </a:lstStyle>
          <a:p>
            <a:pPr/>
            <a:r>
              <a:t>Bibliografia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